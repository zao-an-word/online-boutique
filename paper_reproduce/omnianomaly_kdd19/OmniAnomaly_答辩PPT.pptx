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11661-C4B7-5414-0629-E3F56B3E5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F590B2-3756-B904-43D7-54192D84F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A13E5-A9C8-EA87-444A-AA535F750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C3B18-4E9F-1987-F784-F4EF8C16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5C73C8-3370-B2DA-6746-5917CA32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21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44EF3-8D19-CD1E-900B-253C17BD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92DFFB-6EA9-D926-2A35-6B1B4E62E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D2FDC9-644F-F50F-D7BD-ACD52D544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CF859C-74C5-EB2F-9778-68A35FEB7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1E0A68-7B87-92A9-4E6B-D2A14129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78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C0290-209A-D569-35D1-53AC3096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41113A-7438-F147-9F04-E0632616D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8FCDBD-0670-D44A-A7F6-BBB6DD63D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51F0F9-ADE1-754B-A50F-34ACA6ABF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2EB9F-D91F-F8A8-D60D-2D2072C6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44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56665-6883-5FB3-8D11-45667CAF6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FB515-2CC7-2243-EEC4-881408826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E84660-E9B6-92F6-78F2-76A2EE291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8FA096-FA4B-5862-7D0C-E9D4B056F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29AB6F-5C30-440F-38FC-5606BBC4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60155C-DAE8-F609-5521-95CB74FA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55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FAF59-003C-B250-D7FC-1A1903E9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DC8F77-41C8-538C-82BA-2D359B302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824315-DFE4-2E2D-E077-F7D6FB05C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CF4971-DA5B-EDF4-2EDA-FD2A0C65D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E68AA1-21EF-4641-9CA0-F3A667C63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E22077-F85A-A7B9-6D52-38BDA125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2C2DFB-E6F9-845F-D9B9-B3BBB2E12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223D0C-B993-8B1A-4E35-0840933E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4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A7B2E-B837-B532-4097-B8C76C459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7B63DC-3B7E-C02A-25A4-D0B6F230A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F892E1-D7E3-F710-1157-DE341D87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519DB2-20E6-F324-07A3-46DE261B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80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86ACF1-1550-28D4-0B9B-8676965E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C55258-386E-6045-FD97-0A2D809D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6EE7CA-733E-4F55-4716-689E3F72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5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8120F1-959E-C46E-5636-574ED17D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FB3FC7-4285-6E63-1A7D-7BDD3A3BD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5E9325-CC78-3701-2BF6-6F90BC1D2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8165F5-6474-1644-EA2D-73CF69466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800B8F-B199-5166-735B-0616F6099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D7B9C8-9E6F-89FE-0E70-85664A71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680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F327F-425F-F062-7425-23153FCF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2096FA-BF4D-66CD-66E6-DAC9FBF87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2691C3-7D27-6FDA-6299-DF86B6120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564734-73FA-38BA-AE75-A620FEF0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7AB46C-C7E0-0BFE-3EA3-457764F8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ABB46E-DB4A-55DB-2A5A-CF689A95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95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F44A2-44D2-BED8-39DB-595EEA6FA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E2D250-3C8B-BCF1-21A2-11568AD2C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C1ACFA-B5B4-B35C-C423-29B87B20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4CFFFD-629A-82A3-97BF-D867A9B4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5B9506-FC15-3A4E-89E2-D1B840E8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30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42477E-1964-C373-A351-55A76CF63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319A62-9AE8-77E2-9108-BA95371E5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76FBB-8584-C576-C4CC-9B34341A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F4784A-55F7-9E01-3418-7B61A854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19E3BA-8054-DB08-F1CF-A6EFC708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99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FFCBF3-86E8-F0D5-BDAF-B135D5F2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5C108C-DC00-F3C1-6571-E3A72D82F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12808A-6DCF-EDED-9476-D0F59948A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58A4D-7BDE-40FC-BA20-68DF0EED88A7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0E79E-CB62-ABE3-7444-D7604F801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788E33-BF5B-186E-2213-A9B02FA3B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A2FBE-6843-4C09-839A-498062526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317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1A9EFE-5B3C-F8BD-836A-7BE776382F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48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ED4E21-366E-F1C7-FF32-1B01A3EACE3E}"/>
              </a:ext>
            </a:extLst>
          </p:cNvPr>
          <p:cNvSpPr txBox="1"/>
          <p:nvPr/>
        </p:nvSpPr>
        <p:spPr>
          <a:xfrm>
            <a:off x="1016000" y="1651000"/>
            <a:ext cx="10160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4200" b="1">
                <a:solidFill>
                  <a:srgbClr val="FFFFFF"/>
                </a:solidFill>
              </a:rPr>
              <a:t>OmniAnomaly </a:t>
            </a:r>
            <a:r>
              <a:rPr lang="zh-CN" altLang="en-US" sz="4200" b="1">
                <a:solidFill>
                  <a:srgbClr val="FFFFFF"/>
                </a:solidFill>
              </a:rPr>
              <a:t>论文复现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5A3DD7-ABE7-F999-B0CB-0333C2FC53F4}"/>
              </a:ext>
            </a:extLst>
          </p:cNvPr>
          <p:cNvSpPr txBox="1"/>
          <p:nvPr/>
        </p:nvSpPr>
        <p:spPr>
          <a:xfrm>
            <a:off x="1016000" y="26670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CCCCCC"/>
                </a:solidFill>
              </a:rPr>
              <a:t>Robust Anomaly Detection for Multivariate Time Series (KDD 2019)</a:t>
            </a:r>
            <a:endParaRPr lang="zh-CN" altLang="en-US">
              <a:solidFill>
                <a:srgbClr val="CCCCCC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B903F5-E8B4-A83E-4A28-B4D8492E1A96}"/>
              </a:ext>
            </a:extLst>
          </p:cNvPr>
          <p:cNvSpPr txBox="1"/>
          <p:nvPr/>
        </p:nvSpPr>
        <p:spPr>
          <a:xfrm>
            <a:off x="1016000" y="3683000"/>
            <a:ext cx="1016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600">
                <a:solidFill>
                  <a:srgbClr val="AAAAAA"/>
                </a:solidFill>
              </a:rPr>
              <a:t>Online Boutique </a:t>
            </a:r>
            <a:r>
              <a:rPr lang="zh-CN" altLang="en-US" sz="1600">
                <a:solidFill>
                  <a:srgbClr val="AAAAAA"/>
                </a:solidFill>
              </a:rPr>
              <a:t>微服务系统 </a:t>
            </a:r>
            <a:r>
              <a:rPr lang="en-US" altLang="zh-CN" sz="1600">
                <a:solidFill>
                  <a:srgbClr val="AAAAAA"/>
                </a:solidFill>
              </a:rPr>
              <a:t>— Kubernetes + Prometheus + ChaosMesh</a:t>
            </a:r>
            <a:endParaRPr lang="zh-CN" altLang="en-US" sz="1600">
              <a:solidFill>
                <a:srgbClr val="AAAAAA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FA4BF0-4207-18D8-77A2-6313A6488E13}"/>
              </a:ext>
            </a:extLst>
          </p:cNvPr>
          <p:cNvSpPr/>
          <p:nvPr/>
        </p:nvSpPr>
        <p:spPr>
          <a:xfrm>
            <a:off x="1016000" y="4445000"/>
            <a:ext cx="3810000" cy="38100"/>
          </a:xfrm>
          <a:prstGeom prst="rect">
            <a:avLst/>
          </a:prstGeom>
          <a:solidFill>
            <a:srgbClr val="00C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FCA061-6472-A334-D2BB-23620EC4817C}"/>
              </a:ext>
            </a:extLst>
          </p:cNvPr>
          <p:cNvSpPr txBox="1"/>
          <p:nvPr/>
        </p:nvSpPr>
        <p:spPr>
          <a:xfrm>
            <a:off x="1016000" y="4826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CCCCCC"/>
                </a:solidFill>
              </a:rPr>
              <a:t>答辩人：</a:t>
            </a:r>
            <a:r>
              <a:rPr lang="en-US" altLang="zh-CN" sz="1400">
                <a:solidFill>
                  <a:srgbClr val="CCCCCC"/>
                </a:solidFill>
              </a:rPr>
              <a:t>tamotasmash</a:t>
            </a:r>
            <a:endParaRPr lang="zh-CN" altLang="en-US" sz="1400">
              <a:solidFill>
                <a:srgbClr val="CCCCCC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8370B2-3DCD-2298-A098-166882D25E5B}"/>
              </a:ext>
            </a:extLst>
          </p:cNvPr>
          <p:cNvSpPr txBox="1"/>
          <p:nvPr/>
        </p:nvSpPr>
        <p:spPr>
          <a:xfrm>
            <a:off x="1016000" y="5207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CCCCCC"/>
                </a:solidFill>
              </a:rPr>
              <a:t>分支：</a:t>
            </a:r>
            <a:r>
              <a:rPr lang="en-US" altLang="zh-CN" sz="1400">
                <a:solidFill>
                  <a:srgbClr val="CCCCCC"/>
                </a:solidFill>
              </a:rPr>
              <a:t>release/v0.10.2</a:t>
            </a:r>
            <a:endParaRPr lang="zh-CN" altLang="en-US" sz="1400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921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5102E7-2D41-A754-B326-97516AB0E445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7648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6F44D2-75EE-9F45-AD92-C18C3EB9AC7A}"/>
              </a:ext>
            </a:extLst>
          </p:cNvPr>
          <p:cNvSpPr txBox="1"/>
          <p:nvPr/>
        </p:nvSpPr>
        <p:spPr>
          <a:xfrm>
            <a:off x="508000" y="152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FFFF"/>
                </a:solidFill>
              </a:rPr>
              <a:t>问题定义：多元时间序列异常检测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AEF07F-A8BA-471B-91F7-03D5C4B53847}"/>
              </a:ext>
            </a:extLst>
          </p:cNvPr>
          <p:cNvSpPr txBox="1"/>
          <p:nvPr/>
        </p:nvSpPr>
        <p:spPr>
          <a:xfrm>
            <a:off x="508000" y="1016000"/>
            <a:ext cx="355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333333"/>
                </a:solidFill>
              </a:rPr>
              <a:t>场景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692A6E-3D04-0EA0-4EFA-902BE0584D2C}"/>
              </a:ext>
            </a:extLst>
          </p:cNvPr>
          <p:cNvSpPr txBox="1"/>
          <p:nvPr/>
        </p:nvSpPr>
        <p:spPr>
          <a:xfrm>
            <a:off x="508000" y="1333500"/>
            <a:ext cx="508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333333"/>
                </a:solidFill>
              </a:rPr>
              <a:t>Online Boutique </a:t>
            </a:r>
            <a:r>
              <a:rPr lang="zh-CN" altLang="en-US" sz="1200">
                <a:solidFill>
                  <a:srgbClr val="333333"/>
                </a:solidFill>
              </a:rPr>
              <a:t>微服务系统
</a:t>
            </a:r>
            <a:r>
              <a:rPr lang="en-US" altLang="zh-CN" sz="1200">
                <a:solidFill>
                  <a:srgbClr val="333333"/>
                </a:solidFill>
              </a:rPr>
              <a:t>11 </a:t>
            </a:r>
            <a:r>
              <a:rPr lang="zh-CN" altLang="en-US" sz="1200">
                <a:solidFill>
                  <a:srgbClr val="333333"/>
                </a:solidFill>
              </a:rPr>
              <a:t>个服务，</a:t>
            </a:r>
            <a:r>
              <a:rPr lang="en-US" altLang="zh-CN" sz="1200">
                <a:solidFill>
                  <a:srgbClr val="333333"/>
                </a:solidFill>
              </a:rPr>
              <a:t>Kubernetes + Prometheus </a:t>
            </a:r>
            <a:r>
              <a:rPr lang="zh-CN" altLang="en-US" sz="1200">
                <a:solidFill>
                  <a:srgbClr val="333333"/>
                </a:solidFill>
              </a:rPr>
              <a:t>监控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55DD46-2E03-A2F7-7533-9F89AE597F7C}"/>
              </a:ext>
            </a:extLst>
          </p:cNvPr>
          <p:cNvSpPr txBox="1"/>
          <p:nvPr/>
        </p:nvSpPr>
        <p:spPr>
          <a:xfrm>
            <a:off x="508000" y="2286000"/>
            <a:ext cx="355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333333"/>
                </a:solidFill>
              </a:rPr>
              <a:t>输入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C6C0A6-988D-E9CF-1C40-E65454ECCBC7}"/>
              </a:ext>
            </a:extLst>
          </p:cNvPr>
          <p:cNvSpPr txBox="1"/>
          <p:nvPr/>
        </p:nvSpPr>
        <p:spPr>
          <a:xfrm>
            <a:off x="508000" y="2603500"/>
            <a:ext cx="508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333333"/>
                </a:solidFill>
              </a:rPr>
              <a:t>22 </a:t>
            </a:r>
            <a:r>
              <a:rPr lang="zh-CN" altLang="en-US" sz="1200">
                <a:solidFill>
                  <a:srgbClr val="333333"/>
                </a:solidFill>
              </a:rPr>
              <a:t>维时间序列（</a:t>
            </a:r>
            <a:r>
              <a:rPr lang="en-US" altLang="zh-CN" sz="1200">
                <a:solidFill>
                  <a:srgbClr val="333333"/>
                </a:solidFill>
              </a:rPr>
              <a:t>11 </a:t>
            </a:r>
            <a:r>
              <a:rPr lang="zh-CN" altLang="en-US" sz="1200">
                <a:solidFill>
                  <a:srgbClr val="333333"/>
                </a:solidFill>
              </a:rPr>
              <a:t>服务 </a:t>
            </a:r>
            <a:r>
              <a:rPr lang="en-US" altLang="zh-CN" sz="1200">
                <a:solidFill>
                  <a:srgbClr val="333333"/>
                </a:solidFill>
              </a:rPr>
              <a:t>× {cpu, mem}</a:t>
            </a:r>
            <a:r>
              <a:rPr lang="zh-CN" altLang="en-US" sz="1200">
                <a:solidFill>
                  <a:srgbClr val="333333"/>
                </a:solidFill>
              </a:rPr>
              <a:t>），每 </a:t>
            </a:r>
            <a:r>
              <a:rPr lang="en-US" altLang="zh-CN" sz="1200">
                <a:solidFill>
                  <a:srgbClr val="333333"/>
                </a:solidFill>
              </a:rPr>
              <a:t>30 </a:t>
            </a:r>
            <a:r>
              <a:rPr lang="zh-CN" altLang="en-US" sz="1200">
                <a:solidFill>
                  <a:srgbClr val="333333"/>
                </a:solidFill>
              </a:rPr>
              <a:t>秒一个采样点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01966A-7AF6-CA37-66C4-9FC8EE49683C}"/>
              </a:ext>
            </a:extLst>
          </p:cNvPr>
          <p:cNvSpPr txBox="1"/>
          <p:nvPr/>
        </p:nvSpPr>
        <p:spPr>
          <a:xfrm>
            <a:off x="508000" y="3302000"/>
            <a:ext cx="355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333333"/>
                </a:solidFill>
              </a:rPr>
              <a:t>输出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127AD2-F05F-9F93-CB6E-F249F20B2B23}"/>
              </a:ext>
            </a:extLst>
          </p:cNvPr>
          <p:cNvSpPr txBox="1"/>
          <p:nvPr/>
        </p:nvSpPr>
        <p:spPr>
          <a:xfrm>
            <a:off x="508000" y="3619500"/>
            <a:ext cx="508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</a:rPr>
              <a:t>每个时间窗口的异常分数 </a:t>
            </a:r>
            <a:r>
              <a:rPr lang="en-US" altLang="zh-CN" sz="1200">
                <a:solidFill>
                  <a:srgbClr val="333333"/>
                </a:solidFill>
              </a:rPr>
              <a:t>+ </a:t>
            </a:r>
            <a:r>
              <a:rPr lang="zh-CN" altLang="en-US" sz="1200">
                <a:solidFill>
                  <a:srgbClr val="333333"/>
                </a:solidFill>
              </a:rPr>
              <a:t>阈值判定（正常</a:t>
            </a:r>
            <a:r>
              <a:rPr lang="en-US" altLang="zh-CN" sz="1200">
                <a:solidFill>
                  <a:srgbClr val="333333"/>
                </a:solidFill>
              </a:rPr>
              <a:t>/</a:t>
            </a:r>
            <a:r>
              <a:rPr lang="zh-CN" altLang="en-US" sz="1200">
                <a:solidFill>
                  <a:srgbClr val="333333"/>
                </a:solidFill>
              </a:rPr>
              <a:t>异常）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C3C1DD-5393-9F35-4105-5BB99EE02E9A}"/>
              </a:ext>
            </a:extLst>
          </p:cNvPr>
          <p:cNvSpPr txBox="1"/>
          <p:nvPr/>
        </p:nvSpPr>
        <p:spPr>
          <a:xfrm>
            <a:off x="508000" y="4318000"/>
            <a:ext cx="355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333333"/>
                </a:solidFill>
              </a:rPr>
              <a:t>故障类型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AFBAE6-8522-ABF6-4713-D1412DB93C23}"/>
              </a:ext>
            </a:extLst>
          </p:cNvPr>
          <p:cNvSpPr txBox="1"/>
          <p:nvPr/>
        </p:nvSpPr>
        <p:spPr>
          <a:xfrm>
            <a:off x="508000" y="4635500"/>
            <a:ext cx="508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>
                <a:solidFill>
                  <a:srgbClr val="333333"/>
                </a:solidFill>
              </a:rPr>
              <a:t>• CPU Stress (2</a:t>
            </a:r>
            <a:r>
              <a:rPr lang="zh-CN" altLang="en-US" sz="1200">
                <a:solidFill>
                  <a:srgbClr val="333333"/>
                </a:solidFill>
              </a:rPr>
              <a:t>核</a:t>
            </a:r>
            <a:r>
              <a:rPr lang="en-US" altLang="zh-CN" sz="1200">
                <a:solidFill>
                  <a:srgbClr val="333333"/>
                </a:solidFill>
              </a:rPr>
              <a:t>, 80%</a:t>
            </a:r>
            <a:r>
              <a:rPr lang="zh-CN" altLang="en-US" sz="1200">
                <a:solidFill>
                  <a:srgbClr val="333333"/>
                </a:solidFill>
              </a:rPr>
              <a:t>负载</a:t>
            </a:r>
            <a:r>
              <a:rPr lang="en-US" altLang="zh-CN" sz="1200">
                <a:solidFill>
                  <a:srgbClr val="333333"/>
                </a:solidFill>
              </a:rPr>
              <a:t>)
• Network Delay (500ms + 100ms jitter)
• Pod Kill</a:t>
            </a:r>
            <a:endParaRPr lang="zh-CN" altLang="en-US" sz="1200">
              <a:solidFill>
                <a:srgbClr val="333333"/>
              </a:solidFill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FD42977-E4D7-8F2A-BE5A-CCD328506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380057"/>
              </p:ext>
            </p:extLst>
          </p:nvPr>
        </p:nvGraphicFramePr>
        <p:xfrm>
          <a:off x="6350000" y="1270000"/>
          <a:ext cx="5842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333">
                  <a:extLst>
                    <a:ext uri="{9D8B030D-6E8A-4147-A177-3AD203B41FA5}">
                      <a16:colId xmlns:a16="http://schemas.microsoft.com/office/drawing/2014/main" val="2351468583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1124376856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158639024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</a:rPr>
                        <a:t>故障类型</a:t>
                      </a:r>
                    </a:p>
                  </a:txBody>
                  <a:tcPr>
                    <a:solidFill>
                      <a:srgbClr val="764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</a:rPr>
                        <a:t>目标服务</a:t>
                      </a:r>
                    </a:p>
                  </a:txBody>
                  <a:tcPr>
                    <a:solidFill>
                      <a:srgbClr val="764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>
                    <a:solidFill>
                      <a:srgbClr val="7648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4992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altLang="zh-CN" sz="1100"/>
                        <a:t>CPU Stress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frontend / cart / productcatalog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2</a:t>
                      </a:r>
                      <a:r>
                        <a:rPr lang="zh-CN" altLang="en-US" sz="1100"/>
                        <a:t>核</a:t>
                      </a:r>
                      <a:r>
                        <a:rPr lang="en-US" altLang="zh-CN" sz="1100"/>
                        <a:t>, 80%</a:t>
                      </a:r>
                      <a:endParaRPr lang="zh-CN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89295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altLang="zh-CN" sz="1100"/>
                        <a:t>Network Delay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frontend / cart / productcatalog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500ms + 100ms</a:t>
                      </a:r>
                      <a:endParaRPr lang="zh-CN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81245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altLang="zh-CN" sz="1100"/>
                        <a:t>Pod Kill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frontend / cart / productcatalog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pod-kill action</a:t>
                      </a:r>
                      <a:endParaRPr lang="zh-CN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561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00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B0B990C-71EC-A63F-A9A4-7918FCDCACD3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7648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D2032-2D1D-9EDA-63C1-B7C27D154776}"/>
              </a:ext>
            </a:extLst>
          </p:cNvPr>
          <p:cNvSpPr txBox="1"/>
          <p:nvPr/>
        </p:nvSpPr>
        <p:spPr>
          <a:xfrm>
            <a:off x="508000" y="152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FFFF"/>
                </a:solidFill>
              </a:rPr>
              <a:t>核心创新：从重建误差到重建概率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37DB910-F3EB-2257-EF32-2BA60069FF37}"/>
              </a:ext>
            </a:extLst>
          </p:cNvPr>
          <p:cNvSpPr/>
          <p:nvPr/>
        </p:nvSpPr>
        <p:spPr>
          <a:xfrm>
            <a:off x="381000" y="1143000"/>
            <a:ext cx="5461000" cy="2413000"/>
          </a:xfrm>
          <a:prstGeom prst="roundRect">
            <a:avLst/>
          </a:prstGeom>
          <a:solidFill>
            <a:srgbClr val="E0E0FF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E6AAF8-B9BD-2280-160B-9B8DB774A11F}"/>
              </a:ext>
            </a:extLst>
          </p:cNvPr>
          <p:cNvSpPr txBox="1"/>
          <p:nvPr/>
        </p:nvSpPr>
        <p:spPr>
          <a:xfrm>
            <a:off x="635000" y="1206500"/>
            <a:ext cx="254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00CC"/>
                </a:solidFill>
              </a:rPr>
              <a:t>✘ 传统方法（重建误差）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4E186B-13A6-CAA6-097C-858E6038B08F}"/>
              </a:ext>
            </a:extLst>
          </p:cNvPr>
          <p:cNvSpPr txBox="1"/>
          <p:nvPr/>
        </p:nvSpPr>
        <p:spPr>
          <a:xfrm>
            <a:off x="762000" y="1651000"/>
            <a:ext cx="4826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333333"/>
                </a:solidFill>
              </a:rPr>
              <a:t>x → Encoder → z → Decoder → x̂
</a:t>
            </a:r>
            <a:r>
              <a:rPr lang="zh-CN" altLang="en-US" sz="1100">
                <a:solidFill>
                  <a:srgbClr val="333333"/>
                </a:solidFill>
              </a:rPr>
              <a:t>异常判定</a:t>
            </a:r>
            <a:r>
              <a:rPr lang="en-US" altLang="zh-CN" sz="1100">
                <a:solidFill>
                  <a:srgbClr val="333333"/>
                </a:solidFill>
              </a:rPr>
              <a:t>: MSE(x, x̂) &gt; </a:t>
            </a:r>
            <a:r>
              <a:rPr lang="zh-CN" altLang="en-US" sz="1100">
                <a:solidFill>
                  <a:srgbClr val="333333"/>
                </a:solidFill>
              </a:rPr>
              <a:t>阈值
问题</a:t>
            </a:r>
            <a:r>
              <a:rPr lang="en-US" altLang="zh-CN" sz="1100">
                <a:solidFill>
                  <a:srgbClr val="333333"/>
                </a:solidFill>
              </a:rPr>
              <a:t>: </a:t>
            </a:r>
            <a:r>
              <a:rPr lang="zh-CN" altLang="en-US" sz="1100">
                <a:solidFill>
                  <a:srgbClr val="333333"/>
                </a:solidFill>
              </a:rPr>
              <a:t>各维度阈值难统一
     无法表达不确定性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6A0E818-BF96-60E1-2B5B-2FBE8D83FBBC}"/>
              </a:ext>
            </a:extLst>
          </p:cNvPr>
          <p:cNvSpPr/>
          <p:nvPr/>
        </p:nvSpPr>
        <p:spPr>
          <a:xfrm>
            <a:off x="6223000" y="1143000"/>
            <a:ext cx="5588000" cy="2413000"/>
          </a:xfrm>
          <a:prstGeom prst="roundRect">
            <a:avLst/>
          </a:prstGeom>
          <a:solidFill>
            <a:srgbClr val="E0FFE0"/>
          </a:solidFill>
          <a:ln>
            <a:solidFill>
              <a:srgbClr val="00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85E85C-5BF7-A78F-1FB6-173AD42C9CCC}"/>
              </a:ext>
            </a:extLst>
          </p:cNvPr>
          <p:cNvSpPr txBox="1"/>
          <p:nvPr/>
        </p:nvSpPr>
        <p:spPr>
          <a:xfrm>
            <a:off x="6477000" y="1206500"/>
            <a:ext cx="254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09900"/>
                </a:solidFill>
              </a:rPr>
              <a:t>✔ OmniAnomaly</a:t>
            </a:r>
            <a:r>
              <a:rPr lang="zh-CN" altLang="en-US" sz="1400" b="1">
                <a:solidFill>
                  <a:srgbClr val="009900"/>
                </a:solidFill>
              </a:rPr>
              <a:t>（重建概率）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0410A9-6157-0C72-F248-989B77DD1E39}"/>
              </a:ext>
            </a:extLst>
          </p:cNvPr>
          <p:cNvSpPr txBox="1"/>
          <p:nvPr/>
        </p:nvSpPr>
        <p:spPr>
          <a:xfrm>
            <a:off x="6604000" y="1651000"/>
            <a:ext cx="4826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333333"/>
                </a:solidFill>
              </a:rPr>
              <a:t>x → Encoder → q(z|x) → Decoder → p(x|z)
</a:t>
            </a:r>
            <a:r>
              <a:rPr lang="zh-CN" altLang="en-US" sz="1100">
                <a:solidFill>
                  <a:srgbClr val="333333"/>
                </a:solidFill>
              </a:rPr>
              <a:t>异常判定</a:t>
            </a:r>
            <a:r>
              <a:rPr lang="en-US" altLang="zh-CN" sz="1100">
                <a:solidFill>
                  <a:srgbClr val="333333"/>
                </a:solidFill>
              </a:rPr>
              <a:t>: E[log p(x|z)] &lt; </a:t>
            </a:r>
            <a:r>
              <a:rPr lang="zh-CN" altLang="en-US" sz="1100">
                <a:solidFill>
                  <a:srgbClr val="333333"/>
                </a:solidFill>
              </a:rPr>
              <a:t>阈值
优势</a:t>
            </a:r>
            <a:r>
              <a:rPr lang="en-US" altLang="zh-CN" sz="1100">
                <a:solidFill>
                  <a:srgbClr val="333333"/>
                </a:solidFill>
              </a:rPr>
              <a:t>: </a:t>
            </a:r>
            <a:r>
              <a:rPr lang="zh-CN" altLang="en-US" sz="1100">
                <a:solidFill>
                  <a:srgbClr val="333333"/>
                </a:solidFill>
              </a:rPr>
              <a:t>概率天然可比
     包含重建的不确定性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A1D679-5FBC-A9D6-BF23-7732224E1C2D}"/>
              </a:ext>
            </a:extLst>
          </p:cNvPr>
          <p:cNvSpPr txBox="1"/>
          <p:nvPr/>
        </p:nvSpPr>
        <p:spPr>
          <a:xfrm>
            <a:off x="508000" y="39370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76481A"/>
                </a:solidFill>
              </a:rPr>
              <a:t>核心直觉：模型只在正常数据上训练，学会了正常数据的</a:t>
            </a:r>
            <a:r>
              <a:rPr lang="en-US" altLang="zh-CN" sz="1400" b="1">
                <a:solidFill>
                  <a:srgbClr val="76481A"/>
                </a:solidFill>
              </a:rPr>
              <a:t>"</a:t>
            </a:r>
            <a:r>
              <a:rPr lang="zh-CN" altLang="en-US" sz="1400" b="1">
                <a:solidFill>
                  <a:srgbClr val="76481A"/>
                </a:solidFill>
              </a:rPr>
              <a:t>形状</a:t>
            </a:r>
            <a:r>
              <a:rPr lang="en-US" altLang="zh-CN" sz="1400" b="1">
                <a:solidFill>
                  <a:srgbClr val="76481A"/>
                </a:solidFill>
              </a:rPr>
              <a:t>"</a:t>
            </a:r>
            <a:r>
              <a:rPr lang="zh-CN" altLang="en-US" sz="1400" b="1">
                <a:solidFill>
                  <a:srgbClr val="76481A"/>
                </a:solidFill>
              </a:rPr>
              <a:t>。异常数据进来时，模型试图用正常的</a:t>
            </a:r>
            <a:r>
              <a:rPr lang="en-US" altLang="zh-CN" sz="1400" b="1">
                <a:solidFill>
                  <a:srgbClr val="76481A"/>
                </a:solidFill>
              </a:rPr>
              <a:t>"</a:t>
            </a:r>
            <a:r>
              <a:rPr lang="zh-CN" altLang="en-US" sz="1400" b="1">
                <a:solidFill>
                  <a:srgbClr val="76481A"/>
                </a:solidFill>
              </a:rPr>
              <a:t>形状</a:t>
            </a:r>
            <a:r>
              <a:rPr lang="en-US" altLang="zh-CN" sz="1400" b="1">
                <a:solidFill>
                  <a:srgbClr val="76481A"/>
                </a:solidFill>
              </a:rPr>
              <a:t>"</a:t>
            </a:r>
            <a:r>
              <a:rPr lang="zh-CN" altLang="en-US" sz="1400" b="1">
                <a:solidFill>
                  <a:srgbClr val="76481A"/>
                </a:solidFill>
              </a:rPr>
              <a:t>去解释它，</a:t>
            </a:r>
            <a:r>
              <a:rPr lang="en-US" altLang="zh-CN" sz="1400" b="1">
                <a:solidFill>
                  <a:srgbClr val="76481A"/>
                </a:solidFill>
              </a:rPr>
              <a:t>`n</a:t>
            </a:r>
            <a:r>
              <a:rPr lang="zh-CN" altLang="en-US" sz="1400" b="1">
                <a:solidFill>
                  <a:srgbClr val="76481A"/>
                </a:solidFill>
              </a:rPr>
              <a:t>结果自然是概率极低</a:t>
            </a:r>
            <a:r>
              <a:rPr lang="en-US" altLang="zh-CN" sz="1400" b="1">
                <a:solidFill>
                  <a:srgbClr val="76481A"/>
                </a:solidFill>
              </a:rPr>
              <a:t>——</a:t>
            </a:r>
            <a:r>
              <a:rPr lang="zh-CN" altLang="en-US" sz="1400" b="1">
                <a:solidFill>
                  <a:srgbClr val="76481A"/>
                </a:solidFill>
              </a:rPr>
              <a:t>这就是检测的依据。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AA833A-B7A7-5882-5FB2-F3B34F41326F}"/>
              </a:ext>
            </a:extLst>
          </p:cNvPr>
          <p:cNvSpPr txBox="1"/>
          <p:nvPr/>
        </p:nvSpPr>
        <p:spPr>
          <a:xfrm>
            <a:off x="508000" y="48260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</a:rPr>
              <a:t>异常分数 </a:t>
            </a:r>
            <a:r>
              <a:rPr lang="en-US" altLang="zh-CN" sz="1200">
                <a:solidFill>
                  <a:srgbClr val="333333"/>
                </a:solidFill>
              </a:rPr>
              <a:t>= −E_q(z|x)[log p(x|z)]  ——  </a:t>
            </a:r>
            <a:r>
              <a:rPr lang="zh-CN" altLang="en-US" sz="1200">
                <a:solidFill>
                  <a:srgbClr val="333333"/>
                </a:solidFill>
              </a:rPr>
              <a:t>不需要手工设定维度权重，一个公式统一 </a:t>
            </a:r>
            <a:r>
              <a:rPr lang="en-US" altLang="zh-CN" sz="1200">
                <a:solidFill>
                  <a:srgbClr val="333333"/>
                </a:solidFill>
              </a:rPr>
              <a:t>22 </a:t>
            </a:r>
            <a:r>
              <a:rPr lang="zh-CN" altLang="en-US" sz="1200">
                <a:solidFill>
                  <a:srgbClr val="333333"/>
                </a:solidFill>
              </a:rPr>
              <a:t>维</a:t>
            </a:r>
          </a:p>
        </p:txBody>
      </p:sp>
    </p:spTree>
    <p:extLst>
      <p:ext uri="{BB962C8B-B14F-4D97-AF65-F5344CB8AC3E}">
        <p14:creationId xmlns:p14="http://schemas.microsoft.com/office/powerpoint/2010/main" val="1886174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C27553-4F49-39DE-85A1-A809DD4AA82A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7648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1F4079-5B30-BE7D-CA6E-4BA836FC3AD4}"/>
              </a:ext>
            </a:extLst>
          </p:cNvPr>
          <p:cNvSpPr txBox="1"/>
          <p:nvPr/>
        </p:nvSpPr>
        <p:spPr>
          <a:xfrm>
            <a:off x="508000" y="152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FFFF"/>
                </a:solidFill>
              </a:rPr>
              <a:t>模型架构：四大核心组件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B1DBB0-D597-0406-E611-DDCFBBA3A412}"/>
              </a:ext>
            </a:extLst>
          </p:cNvPr>
          <p:cNvSpPr txBox="1"/>
          <p:nvPr/>
        </p:nvSpPr>
        <p:spPr>
          <a:xfrm>
            <a:off x="508000" y="1016000"/>
            <a:ext cx="317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76481A"/>
                </a:solidFill>
              </a:rPr>
              <a:t>[1] GRU </a:t>
            </a:r>
            <a:r>
              <a:rPr lang="zh-CN" altLang="en-US" sz="1400" b="1">
                <a:solidFill>
                  <a:srgbClr val="76481A"/>
                </a:solidFill>
              </a:rPr>
              <a:t>循环网络  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738AB6-7870-3271-BEB2-1E3D3FD72647}"/>
              </a:ext>
            </a:extLst>
          </p:cNvPr>
          <p:cNvSpPr txBox="1"/>
          <p:nvPr/>
        </p:nvSpPr>
        <p:spPr>
          <a:xfrm>
            <a:off x="3810000" y="1016000"/>
            <a:ext cx="190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333333"/>
                </a:solidFill>
              </a:rPr>
              <a:t>作用</a:t>
            </a:r>
            <a:r>
              <a:rPr lang="en-US" altLang="zh-CN" sz="1100">
                <a:solidFill>
                  <a:srgbClr val="333333"/>
                </a:solidFill>
              </a:rPr>
              <a:t>: </a:t>
            </a:r>
            <a:r>
              <a:rPr lang="zh-CN" altLang="en-US" sz="1100">
                <a:solidFill>
                  <a:srgbClr val="333333"/>
                </a:solidFill>
              </a:rPr>
              <a:t>捕捉时序依赖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0C6BBB-F8A5-C22D-1522-3C77287F57E0}"/>
              </a:ext>
            </a:extLst>
          </p:cNvPr>
          <p:cNvSpPr txBox="1"/>
          <p:nvPr/>
        </p:nvSpPr>
        <p:spPr>
          <a:xfrm>
            <a:off x="5842000" y="1016000"/>
            <a:ext cx="381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333333"/>
                </a:solidFill>
              </a:rPr>
              <a:t>为什么</a:t>
            </a:r>
            <a:r>
              <a:rPr lang="en-US" altLang="zh-CN" sz="1100">
                <a:solidFill>
                  <a:srgbClr val="333333"/>
                </a:solidFill>
              </a:rPr>
              <a:t>: CPU</a:t>
            </a:r>
            <a:r>
              <a:rPr lang="zh-CN" altLang="en-US" sz="1100">
                <a:solidFill>
                  <a:srgbClr val="333333"/>
                </a:solidFill>
              </a:rPr>
              <a:t>飙高后内存通常会跟着变</a:t>
            </a:r>
            <a:r>
              <a:rPr lang="en-US" altLang="zh-CN" sz="1100">
                <a:solidFill>
                  <a:srgbClr val="333333"/>
                </a:solidFill>
              </a:rPr>
              <a:t>——GRU</a:t>
            </a:r>
            <a:r>
              <a:rPr lang="zh-CN" altLang="en-US" sz="1100">
                <a:solidFill>
                  <a:srgbClr val="333333"/>
                </a:solidFill>
              </a:rPr>
              <a:t>捕捉这种先后关系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7B3DD6-D854-B9AB-48A3-3B67532D4EB5}"/>
              </a:ext>
            </a:extLst>
          </p:cNvPr>
          <p:cNvSpPr txBox="1"/>
          <p:nvPr/>
        </p:nvSpPr>
        <p:spPr>
          <a:xfrm>
            <a:off x="9906000" y="1016000"/>
            <a:ext cx="190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888888"/>
                </a:solidFill>
              </a:rPr>
              <a:t>配置</a:t>
            </a:r>
            <a:r>
              <a:rPr lang="en-US" altLang="zh-CN" sz="1100">
                <a:solidFill>
                  <a:srgbClr val="888888"/>
                </a:solidFill>
              </a:rPr>
              <a:t>: hidden=128</a:t>
            </a:r>
            <a:endParaRPr lang="zh-CN" altLang="en-US" sz="1100">
              <a:solidFill>
                <a:srgbClr val="888888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2FFFA7-9233-44CE-10B5-0A6C04863F99}"/>
              </a:ext>
            </a:extLst>
          </p:cNvPr>
          <p:cNvSpPr txBox="1"/>
          <p:nvPr/>
        </p:nvSpPr>
        <p:spPr>
          <a:xfrm>
            <a:off x="508000" y="1524000"/>
            <a:ext cx="317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76481A"/>
                </a:solidFill>
              </a:rPr>
              <a:t>[2] VAE </a:t>
            </a:r>
            <a:r>
              <a:rPr lang="zh-CN" altLang="en-US" sz="1400" b="1">
                <a:solidFill>
                  <a:srgbClr val="76481A"/>
                </a:solidFill>
              </a:rPr>
              <a:t>变分自编码器  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67B58E-965D-F805-16A1-72769519A8C3}"/>
              </a:ext>
            </a:extLst>
          </p:cNvPr>
          <p:cNvSpPr txBox="1"/>
          <p:nvPr/>
        </p:nvSpPr>
        <p:spPr>
          <a:xfrm>
            <a:off x="3810000" y="1524000"/>
            <a:ext cx="190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333333"/>
                </a:solidFill>
              </a:rPr>
              <a:t>作用</a:t>
            </a:r>
            <a:r>
              <a:rPr lang="en-US" altLang="zh-CN" sz="1100">
                <a:solidFill>
                  <a:srgbClr val="333333"/>
                </a:solidFill>
              </a:rPr>
              <a:t>: </a:t>
            </a:r>
            <a:r>
              <a:rPr lang="zh-CN" altLang="en-US" sz="1100">
                <a:solidFill>
                  <a:srgbClr val="333333"/>
                </a:solidFill>
              </a:rPr>
              <a:t>学习正常分布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554547-37D8-53A8-4F70-96A7F3C45124}"/>
              </a:ext>
            </a:extLst>
          </p:cNvPr>
          <p:cNvSpPr txBox="1"/>
          <p:nvPr/>
        </p:nvSpPr>
        <p:spPr>
          <a:xfrm>
            <a:off x="5842000" y="15240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333333"/>
                </a:solidFill>
              </a:rPr>
              <a:t>为什么</a:t>
            </a:r>
            <a:r>
              <a:rPr lang="en-US" altLang="zh-CN" sz="1100">
                <a:solidFill>
                  <a:srgbClr val="333333"/>
                </a:solidFill>
              </a:rPr>
              <a:t>: </a:t>
            </a:r>
            <a:r>
              <a:rPr lang="zh-CN" altLang="en-US" sz="1100">
                <a:solidFill>
                  <a:srgbClr val="333333"/>
                </a:solidFill>
              </a:rPr>
              <a:t>输出分布而非点估计，能表达</a:t>
            </a:r>
            <a:r>
              <a:rPr lang="en-US" altLang="zh-CN" sz="1100">
                <a:solidFill>
                  <a:srgbClr val="333333"/>
                </a:solidFill>
              </a:rPr>
              <a:t>"</a:t>
            </a:r>
            <a:r>
              <a:rPr lang="zh-CN" altLang="en-US" sz="1100">
                <a:solidFill>
                  <a:srgbClr val="333333"/>
                </a:solidFill>
              </a:rPr>
              <a:t>这个地方我不确定</a:t>
            </a:r>
            <a:r>
              <a:rPr lang="en-US" altLang="zh-CN" sz="1100">
                <a:solidFill>
                  <a:srgbClr val="333333"/>
                </a:solidFill>
              </a:rPr>
              <a:t>"</a:t>
            </a:r>
            <a:endParaRPr lang="zh-CN" altLang="en-US" sz="1100">
              <a:solidFill>
                <a:srgbClr val="333333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4CC9A1-4D00-A420-7590-53ED029D61D2}"/>
              </a:ext>
            </a:extLst>
          </p:cNvPr>
          <p:cNvSpPr txBox="1"/>
          <p:nvPr/>
        </p:nvSpPr>
        <p:spPr>
          <a:xfrm>
            <a:off x="9906000" y="1524000"/>
            <a:ext cx="190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888888"/>
                </a:solidFill>
              </a:rPr>
              <a:t>配置</a:t>
            </a:r>
            <a:r>
              <a:rPr lang="en-US" altLang="zh-CN" sz="1100">
                <a:solidFill>
                  <a:srgbClr val="888888"/>
                </a:solidFill>
              </a:rPr>
              <a:t>: z_dim=6</a:t>
            </a:r>
            <a:endParaRPr lang="zh-CN" altLang="en-US" sz="1100">
              <a:solidFill>
                <a:srgbClr val="888888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640A79-33DE-109B-8C93-E160CE3AB556}"/>
              </a:ext>
            </a:extLst>
          </p:cNvPr>
          <p:cNvSpPr txBox="1"/>
          <p:nvPr/>
        </p:nvSpPr>
        <p:spPr>
          <a:xfrm>
            <a:off x="508000" y="2032000"/>
            <a:ext cx="317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76481A"/>
                </a:solidFill>
              </a:rPr>
              <a:t>[3] Planar Normalizing Flow  →</a:t>
            </a:r>
            <a:endParaRPr lang="zh-CN" altLang="en-US" sz="1400" b="1">
              <a:solidFill>
                <a:srgbClr val="76481A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BD9786-5BFD-0E91-2F36-B03696AD1682}"/>
              </a:ext>
            </a:extLst>
          </p:cNvPr>
          <p:cNvSpPr txBox="1"/>
          <p:nvPr/>
        </p:nvSpPr>
        <p:spPr>
          <a:xfrm>
            <a:off x="3810000" y="2032000"/>
            <a:ext cx="190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333333"/>
                </a:solidFill>
              </a:rPr>
              <a:t>作用</a:t>
            </a:r>
            <a:r>
              <a:rPr lang="en-US" altLang="zh-CN" sz="1100">
                <a:solidFill>
                  <a:srgbClr val="333333"/>
                </a:solidFill>
              </a:rPr>
              <a:t>: </a:t>
            </a:r>
            <a:r>
              <a:rPr lang="zh-CN" altLang="en-US" sz="1100">
                <a:solidFill>
                  <a:srgbClr val="333333"/>
                </a:solidFill>
              </a:rPr>
              <a:t>增强后验表达力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11D368-75AD-B142-5CFD-331B9F485EC2}"/>
              </a:ext>
            </a:extLst>
          </p:cNvPr>
          <p:cNvSpPr txBox="1"/>
          <p:nvPr/>
        </p:nvSpPr>
        <p:spPr>
          <a:xfrm>
            <a:off x="5842000" y="2032000"/>
            <a:ext cx="381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333333"/>
                </a:solidFill>
              </a:rPr>
              <a:t>为什么</a:t>
            </a:r>
            <a:r>
              <a:rPr lang="en-US" altLang="zh-CN" sz="1100">
                <a:solidFill>
                  <a:srgbClr val="333333"/>
                </a:solidFill>
              </a:rPr>
              <a:t>: </a:t>
            </a:r>
            <a:r>
              <a:rPr lang="zh-CN" altLang="en-US" sz="1100">
                <a:solidFill>
                  <a:srgbClr val="333333"/>
                </a:solidFill>
              </a:rPr>
              <a:t>标准</a:t>
            </a:r>
            <a:r>
              <a:rPr lang="en-US" altLang="zh-CN" sz="1100">
                <a:solidFill>
                  <a:srgbClr val="333333"/>
                </a:solidFill>
              </a:rPr>
              <a:t>VAE</a:t>
            </a:r>
            <a:r>
              <a:rPr lang="zh-CN" altLang="en-US" sz="1100">
                <a:solidFill>
                  <a:srgbClr val="333333"/>
                </a:solidFill>
              </a:rPr>
              <a:t>假设后验是高斯</a:t>
            </a:r>
            <a:r>
              <a:rPr lang="en-US" altLang="zh-CN" sz="1100">
                <a:solidFill>
                  <a:srgbClr val="333333"/>
                </a:solidFill>
              </a:rPr>
              <a:t>——</a:t>
            </a:r>
            <a:r>
              <a:rPr lang="zh-CN" altLang="en-US" sz="1100">
                <a:solidFill>
                  <a:srgbClr val="333333"/>
                </a:solidFill>
              </a:rPr>
              <a:t>太简单，</a:t>
            </a:r>
            <a:r>
              <a:rPr lang="en-US" altLang="zh-CN" sz="1100">
                <a:solidFill>
                  <a:srgbClr val="333333"/>
                </a:solidFill>
              </a:rPr>
              <a:t>NF</a:t>
            </a:r>
            <a:r>
              <a:rPr lang="zh-CN" altLang="en-US" sz="1100">
                <a:solidFill>
                  <a:srgbClr val="333333"/>
                </a:solidFill>
              </a:rPr>
              <a:t>把高斯</a:t>
            </a:r>
            <a:r>
              <a:rPr lang="en-US" altLang="zh-CN" sz="1100">
                <a:solidFill>
                  <a:srgbClr val="333333"/>
                </a:solidFill>
              </a:rPr>
              <a:t>"</a:t>
            </a:r>
            <a:r>
              <a:rPr lang="zh-CN" altLang="en-US" sz="1100">
                <a:solidFill>
                  <a:srgbClr val="333333"/>
                </a:solidFill>
              </a:rPr>
              <a:t>揉</a:t>
            </a:r>
            <a:r>
              <a:rPr lang="en-US" altLang="zh-CN" sz="1100">
                <a:solidFill>
                  <a:srgbClr val="333333"/>
                </a:solidFill>
              </a:rPr>
              <a:t>"</a:t>
            </a:r>
            <a:r>
              <a:rPr lang="zh-CN" altLang="en-US" sz="1100">
                <a:solidFill>
                  <a:srgbClr val="333333"/>
                </a:solidFill>
              </a:rPr>
              <a:t>成任意形状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D9C813-8FA7-50E7-A2B0-841AE85708A6}"/>
              </a:ext>
            </a:extLst>
          </p:cNvPr>
          <p:cNvSpPr txBox="1"/>
          <p:nvPr/>
        </p:nvSpPr>
        <p:spPr>
          <a:xfrm>
            <a:off x="9906000" y="2032000"/>
            <a:ext cx="190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888888"/>
                </a:solidFill>
              </a:rPr>
              <a:t>配置</a:t>
            </a:r>
            <a:r>
              <a:rPr lang="en-US" altLang="zh-CN" sz="1100">
                <a:solidFill>
                  <a:srgbClr val="888888"/>
                </a:solidFill>
              </a:rPr>
              <a:t>: layers=10</a:t>
            </a:r>
            <a:endParaRPr lang="zh-CN" altLang="en-US" sz="1100">
              <a:solidFill>
                <a:srgbClr val="888888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0BB6B8-C7E5-382B-E919-BFF557C3BC19}"/>
              </a:ext>
            </a:extLst>
          </p:cNvPr>
          <p:cNvSpPr txBox="1"/>
          <p:nvPr/>
        </p:nvSpPr>
        <p:spPr>
          <a:xfrm>
            <a:off x="508000" y="2540000"/>
            <a:ext cx="317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76481A"/>
                </a:solidFill>
              </a:rPr>
              <a:t>[4] Linear Gaussian SSM</a:t>
            </a:r>
            <a:endParaRPr lang="zh-CN" altLang="en-US" sz="1400" b="1">
              <a:solidFill>
                <a:srgbClr val="76481A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A57008E-3D78-CECC-208A-B55A21772B6E}"/>
              </a:ext>
            </a:extLst>
          </p:cNvPr>
          <p:cNvSpPr txBox="1"/>
          <p:nvPr/>
        </p:nvSpPr>
        <p:spPr>
          <a:xfrm>
            <a:off x="3810000" y="2540000"/>
            <a:ext cx="190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333333"/>
                </a:solidFill>
              </a:rPr>
              <a:t>作用</a:t>
            </a:r>
            <a:r>
              <a:rPr lang="en-US" altLang="zh-CN" sz="1100">
                <a:solidFill>
                  <a:srgbClr val="333333"/>
                </a:solidFill>
              </a:rPr>
              <a:t>: </a:t>
            </a:r>
            <a:r>
              <a:rPr lang="zh-CN" altLang="en-US" sz="1100">
                <a:solidFill>
                  <a:srgbClr val="333333"/>
                </a:solidFill>
              </a:rPr>
              <a:t>连接时间步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49CF8A-DEF7-0981-7888-AF4E3097B932}"/>
              </a:ext>
            </a:extLst>
          </p:cNvPr>
          <p:cNvSpPr txBox="1"/>
          <p:nvPr/>
        </p:nvSpPr>
        <p:spPr>
          <a:xfrm>
            <a:off x="5842000" y="2540000"/>
            <a:ext cx="381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333333"/>
                </a:solidFill>
              </a:rPr>
              <a:t>为什么</a:t>
            </a:r>
            <a:r>
              <a:rPr lang="en-US" altLang="zh-CN" sz="1100">
                <a:solidFill>
                  <a:srgbClr val="333333"/>
                </a:solidFill>
              </a:rPr>
              <a:t>: </a:t>
            </a:r>
            <a:r>
              <a:rPr lang="zh-CN" altLang="en-US" sz="1100">
                <a:solidFill>
                  <a:srgbClr val="333333"/>
                </a:solidFill>
              </a:rPr>
              <a:t>标准</a:t>
            </a:r>
            <a:r>
              <a:rPr lang="en-US" altLang="zh-CN" sz="1100">
                <a:solidFill>
                  <a:srgbClr val="333333"/>
                </a:solidFill>
              </a:rPr>
              <a:t>VAE</a:t>
            </a:r>
            <a:r>
              <a:rPr lang="zh-CN" altLang="en-US" sz="1100">
                <a:solidFill>
                  <a:srgbClr val="333333"/>
                </a:solidFill>
              </a:rPr>
              <a:t>假设</a:t>
            </a:r>
            <a:r>
              <a:rPr lang="en-US" altLang="zh-CN" sz="1100">
                <a:solidFill>
                  <a:srgbClr val="333333"/>
                </a:solidFill>
              </a:rPr>
              <a:t>z_t</a:t>
            </a:r>
            <a:r>
              <a:rPr lang="zh-CN" altLang="en-US" sz="1100">
                <a:solidFill>
                  <a:srgbClr val="333333"/>
                </a:solidFill>
              </a:rPr>
              <a:t>独立，但真实系统状态连续演化：</a:t>
            </a:r>
            <a:r>
              <a:rPr lang="en-US" altLang="zh-CN" sz="1100">
                <a:solidFill>
                  <a:srgbClr val="333333"/>
                </a:solidFill>
              </a:rPr>
              <a:t>z_t=z_{t-1}+ε</a:t>
            </a:r>
            <a:endParaRPr lang="zh-CN" altLang="en-US" sz="1100">
              <a:solidFill>
                <a:srgbClr val="333333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73250E-21D7-6DF7-A418-101846911103}"/>
              </a:ext>
            </a:extLst>
          </p:cNvPr>
          <p:cNvSpPr txBox="1"/>
          <p:nvPr/>
        </p:nvSpPr>
        <p:spPr>
          <a:xfrm>
            <a:off x="9906000" y="2540000"/>
            <a:ext cx="190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888888"/>
                </a:solidFill>
              </a:rPr>
              <a:t>配置</a:t>
            </a:r>
            <a:r>
              <a:rPr lang="en-US" altLang="zh-CN" sz="1100">
                <a:solidFill>
                  <a:srgbClr val="888888"/>
                </a:solidFill>
              </a:rPr>
              <a:t>: </a:t>
            </a:r>
            <a:r>
              <a:rPr lang="zh-CN" altLang="en-US" sz="1100">
                <a:solidFill>
                  <a:srgbClr val="888888"/>
                </a:solidFill>
              </a:rPr>
              <a:t>启用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43EA4F-A590-9282-43E7-386C350A9CC2}"/>
              </a:ext>
            </a:extLst>
          </p:cNvPr>
          <p:cNvSpPr txBox="1"/>
          <p:nvPr/>
        </p:nvSpPr>
        <p:spPr>
          <a:xfrm>
            <a:off x="508000" y="3302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333333"/>
                </a:solidFill>
              </a:rPr>
              <a:t>数据流</a:t>
            </a:r>
            <a:r>
              <a:rPr lang="en-US" altLang="zh-CN" sz="1300" b="1">
                <a:solidFill>
                  <a:srgbClr val="333333"/>
                </a:solidFill>
              </a:rPr>
              <a:t>: x_t−w+1…x_t  →  [GRU</a:t>
            </a:r>
            <a:r>
              <a:rPr lang="zh-CN" altLang="en-US" sz="1300" b="1">
                <a:solidFill>
                  <a:srgbClr val="333333"/>
                </a:solidFill>
              </a:rPr>
              <a:t>编码</a:t>
            </a:r>
            <a:r>
              <a:rPr lang="en-US" altLang="zh-CN" sz="1300" b="1">
                <a:solidFill>
                  <a:srgbClr val="333333"/>
                </a:solidFill>
              </a:rPr>
              <a:t>]  →  q(z|x)  →  [Planar NF]  →  LGSSM(z_t|z_t−1)  →  [GRU</a:t>
            </a:r>
            <a:r>
              <a:rPr lang="zh-CN" altLang="en-US" sz="1300" b="1">
                <a:solidFill>
                  <a:srgbClr val="333333"/>
                </a:solidFill>
              </a:rPr>
              <a:t>解码</a:t>
            </a:r>
            <a:r>
              <a:rPr lang="en-US" altLang="zh-CN" sz="1300" b="1">
                <a:solidFill>
                  <a:srgbClr val="333333"/>
                </a:solidFill>
              </a:rPr>
              <a:t>]  →  p(x|z)  →  </a:t>
            </a:r>
            <a:r>
              <a:rPr lang="zh-CN" altLang="en-US" sz="1300" b="1">
                <a:solidFill>
                  <a:srgbClr val="333333"/>
                </a:solidFill>
              </a:rPr>
              <a:t>异常分数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E5F465-54E5-8CE5-E7A8-E064035B3441}"/>
              </a:ext>
            </a:extLst>
          </p:cNvPr>
          <p:cNvSpPr txBox="1"/>
          <p:nvPr/>
        </p:nvSpPr>
        <p:spPr>
          <a:xfrm>
            <a:off x="508000" y="40640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888888"/>
                </a:solidFill>
              </a:rPr>
              <a:t>每个窗口采样 </a:t>
            </a:r>
            <a:r>
              <a:rPr lang="en-US" altLang="zh-CN" sz="1100">
                <a:solidFill>
                  <a:srgbClr val="888888"/>
                </a:solidFill>
              </a:rPr>
              <a:t>1024 </a:t>
            </a:r>
            <a:r>
              <a:rPr lang="zh-CN" altLang="en-US" sz="1100">
                <a:solidFill>
                  <a:srgbClr val="888888"/>
                </a:solidFill>
              </a:rPr>
              <a:t>个 </a:t>
            </a:r>
            <a:r>
              <a:rPr lang="en-US" altLang="zh-CN" sz="1100">
                <a:solidFill>
                  <a:srgbClr val="888888"/>
                </a:solidFill>
              </a:rPr>
              <a:t>z </a:t>
            </a:r>
            <a:r>
              <a:rPr lang="zh-CN" altLang="en-US" sz="1100">
                <a:solidFill>
                  <a:srgbClr val="888888"/>
                </a:solidFill>
              </a:rPr>
              <a:t>估计 </a:t>
            </a:r>
            <a:r>
              <a:rPr lang="en-US" altLang="zh-CN" sz="1100">
                <a:solidFill>
                  <a:srgbClr val="888888"/>
                </a:solidFill>
              </a:rPr>
              <a:t>E[log p(x|z)]</a:t>
            </a:r>
            <a:r>
              <a:rPr lang="zh-CN" altLang="en-US" sz="1100">
                <a:solidFill>
                  <a:srgbClr val="888888"/>
                </a:solidFill>
              </a:rPr>
              <a:t>；仅评估窗口最后一个点的分数（</a:t>
            </a:r>
            <a:r>
              <a:rPr lang="en-US" altLang="zh-CN" sz="1100">
                <a:solidFill>
                  <a:srgbClr val="888888"/>
                </a:solidFill>
              </a:rPr>
              <a:t>last_point_only = True</a:t>
            </a:r>
            <a:r>
              <a:rPr lang="zh-CN" altLang="en-US" sz="1100">
                <a:solidFill>
                  <a:srgbClr val="888888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75026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7A710F8-66E1-EB5A-254A-5BACF1D37FC3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7648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C0DAB9-8730-725F-C727-FFAE8C894E12}"/>
              </a:ext>
            </a:extLst>
          </p:cNvPr>
          <p:cNvSpPr txBox="1"/>
          <p:nvPr/>
        </p:nvSpPr>
        <p:spPr>
          <a:xfrm>
            <a:off x="508000" y="152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</a:rPr>
              <a:t>9 </a:t>
            </a:r>
            <a:r>
              <a:rPr lang="zh-CN" altLang="en-US" sz="2800" b="1">
                <a:solidFill>
                  <a:srgbClr val="FFFFFF"/>
                </a:solidFill>
              </a:rPr>
              <a:t>组对照实验：从 </a:t>
            </a:r>
            <a:r>
              <a:rPr lang="en-US" altLang="zh-CN" sz="2800" b="1">
                <a:solidFill>
                  <a:srgbClr val="FFFFFF"/>
                </a:solidFill>
              </a:rPr>
              <a:t>F1=0.112 </a:t>
            </a:r>
            <a:r>
              <a:rPr lang="zh-CN" altLang="en-US" sz="2800" b="1">
                <a:solidFill>
                  <a:srgbClr val="FFFFFF"/>
                </a:solidFill>
              </a:rPr>
              <a:t>到 </a:t>
            </a:r>
            <a:r>
              <a:rPr lang="en-US" altLang="zh-CN" sz="2800" b="1">
                <a:solidFill>
                  <a:srgbClr val="FFFFFF"/>
                </a:solidFill>
              </a:rPr>
              <a:t>F1=0.786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AA64E3-BE1F-0209-C768-B8320F9B0A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25500"/>
            <a:ext cx="11684000" cy="5207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FDC001D-781A-B198-41E0-BFCDDBB5E530}"/>
              </a:ext>
            </a:extLst>
          </p:cNvPr>
          <p:cNvSpPr txBox="1"/>
          <p:nvPr/>
        </p:nvSpPr>
        <p:spPr>
          <a:xfrm>
            <a:off x="381000" y="6223000"/>
            <a:ext cx="381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0000CC"/>
                </a:solidFill>
              </a:rPr>
              <a:t>#1→#3: F1 0.112→0.553 (+392%)
</a:t>
            </a:r>
            <a:r>
              <a:rPr lang="zh-CN" altLang="en-US" sz="1100" b="1">
                <a:solidFill>
                  <a:srgbClr val="0000CC"/>
                </a:solidFill>
              </a:rPr>
              <a:t>故障强度比特征工程重要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C7D397-A65E-8DA8-F34D-9C802E463053}"/>
              </a:ext>
            </a:extLst>
          </p:cNvPr>
          <p:cNvSpPr txBox="1"/>
          <p:nvPr/>
        </p:nvSpPr>
        <p:spPr>
          <a:xfrm>
            <a:off x="4318000" y="6223000"/>
            <a:ext cx="381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009900"/>
                </a:solidFill>
              </a:rPr>
              <a:t>#5→#6: F1 0.589→0.968 (+64%)
</a:t>
            </a:r>
            <a:r>
              <a:rPr lang="zh-CN" altLang="en-US" sz="1100" b="1">
                <a:solidFill>
                  <a:srgbClr val="009900"/>
                </a:solidFill>
              </a:rPr>
              <a:t>数据质量决定天花板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37E58D-F8B5-09D6-F3DC-9F80407C0BF0}"/>
              </a:ext>
            </a:extLst>
          </p:cNvPr>
          <p:cNvSpPr txBox="1"/>
          <p:nvPr/>
        </p:nvSpPr>
        <p:spPr>
          <a:xfrm>
            <a:off x="8255000" y="6223000"/>
            <a:ext cx="3683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76481A"/>
                </a:solidFill>
              </a:rPr>
              <a:t>#1→#9: F1 0.112→0.786 (+602%)
</a:t>
            </a:r>
            <a:r>
              <a:rPr lang="zh-CN" altLang="en-US" sz="1100" b="1">
                <a:solidFill>
                  <a:srgbClr val="76481A"/>
                </a:solidFill>
              </a:rPr>
              <a:t>整体优化路径有效</a:t>
            </a:r>
          </a:p>
        </p:txBody>
      </p:sp>
    </p:spTree>
    <p:extLst>
      <p:ext uri="{BB962C8B-B14F-4D97-AF65-F5344CB8AC3E}">
        <p14:creationId xmlns:p14="http://schemas.microsoft.com/office/powerpoint/2010/main" val="955485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0B0F94-9EC5-F7B8-D2ED-F76ACFD7890F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7648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B52CB7-90D5-7A5D-AC84-6F97F9AB4540}"/>
              </a:ext>
            </a:extLst>
          </p:cNvPr>
          <p:cNvSpPr txBox="1"/>
          <p:nvPr/>
        </p:nvSpPr>
        <p:spPr>
          <a:xfrm>
            <a:off x="508000" y="152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FFFF"/>
                </a:solidFill>
              </a:rPr>
              <a:t>降维：</a:t>
            </a:r>
            <a:r>
              <a:rPr lang="en-US" altLang="zh-CN" sz="2800" b="1">
                <a:solidFill>
                  <a:srgbClr val="FFFFFF"/>
                </a:solidFill>
              </a:rPr>
              <a:t>F1 </a:t>
            </a:r>
            <a:r>
              <a:rPr lang="zh-CN" altLang="en-US" sz="2800" b="1">
                <a:solidFill>
                  <a:srgbClr val="FFFFFF"/>
                </a:solidFill>
              </a:rPr>
              <a:t>提升 </a:t>
            </a:r>
            <a:r>
              <a:rPr lang="en-US" altLang="zh-CN" sz="2800" b="1">
                <a:solidFill>
                  <a:srgbClr val="FFFFFF"/>
                </a:solidFill>
              </a:rPr>
              <a:t>7 </a:t>
            </a:r>
            <a:r>
              <a:rPr lang="zh-CN" altLang="en-US" sz="2800" b="1">
                <a:solidFill>
                  <a:srgbClr val="FFFFFF"/>
                </a:solidFill>
              </a:rPr>
              <a:t>倍的关键杠杆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A09B1F-0454-E1A1-31CE-14BE8C1A19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825500"/>
            <a:ext cx="7620000" cy="5080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DB67D3-D59F-6D5C-C613-B1C0BCD51D03}"/>
              </a:ext>
            </a:extLst>
          </p:cNvPr>
          <p:cNvSpPr txBox="1"/>
          <p:nvPr/>
        </p:nvSpPr>
        <p:spPr>
          <a:xfrm>
            <a:off x="8636000" y="1016000"/>
            <a:ext cx="317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333333"/>
                </a:solidFill>
              </a:rPr>
              <a:t>核心发现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97A3F5-8CB7-F946-53F2-65513867CAF3}"/>
              </a:ext>
            </a:extLst>
          </p:cNvPr>
          <p:cNvSpPr txBox="1"/>
          <p:nvPr/>
        </p:nvSpPr>
        <p:spPr>
          <a:xfrm>
            <a:off x="8636000" y="1397000"/>
            <a:ext cx="3175000" cy="19543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333333"/>
                </a:solidFill>
              </a:rPr>
              <a:t>• 494</a:t>
            </a:r>
            <a:r>
              <a:rPr lang="zh-CN" altLang="en-US" sz="1100">
                <a:solidFill>
                  <a:srgbClr val="333333"/>
                </a:solidFill>
              </a:rPr>
              <a:t>维 → </a:t>
            </a:r>
            <a:r>
              <a:rPr lang="en-US" altLang="zh-CN" sz="1100">
                <a:solidFill>
                  <a:srgbClr val="333333"/>
                </a:solidFill>
              </a:rPr>
              <a:t>22</a:t>
            </a:r>
            <a:r>
              <a:rPr lang="zh-CN" altLang="en-US" sz="1100">
                <a:solidFill>
                  <a:srgbClr val="333333"/>
                </a:solidFill>
              </a:rPr>
              <a:t>维
  </a:t>
            </a:r>
            <a:r>
              <a:rPr lang="en-US" altLang="zh-CN" sz="1100">
                <a:solidFill>
                  <a:srgbClr val="333333"/>
                </a:solidFill>
              </a:rPr>
              <a:t>F1 </a:t>
            </a:r>
            <a:r>
              <a:rPr lang="zh-CN" altLang="en-US" sz="1100">
                <a:solidFill>
                  <a:srgbClr val="333333"/>
                </a:solidFill>
              </a:rPr>
              <a:t>提升 </a:t>
            </a:r>
            <a:r>
              <a:rPr lang="en-US" altLang="zh-CN" sz="1100">
                <a:solidFill>
                  <a:srgbClr val="333333"/>
                </a:solidFill>
              </a:rPr>
              <a:t>7 </a:t>
            </a:r>
            <a:r>
              <a:rPr lang="zh-CN" altLang="en-US" sz="1100">
                <a:solidFill>
                  <a:srgbClr val="333333"/>
                </a:solidFill>
              </a:rPr>
              <a:t>倍
</a:t>
            </a:r>
            <a:r>
              <a:rPr lang="en-US" altLang="zh-CN" sz="1100">
                <a:solidFill>
                  <a:srgbClr val="333333"/>
                </a:solidFill>
              </a:rPr>
              <a:t>• </a:t>
            </a:r>
            <a:r>
              <a:rPr lang="zh-CN" altLang="en-US" sz="1100">
                <a:solidFill>
                  <a:srgbClr val="333333"/>
                </a:solidFill>
              </a:rPr>
              <a:t>人工精选 </a:t>
            </a:r>
            <a:r>
              <a:rPr lang="en-US" altLang="zh-CN" sz="1100">
                <a:solidFill>
                  <a:srgbClr val="333333"/>
                </a:solidFill>
              </a:rPr>
              <a:t>22</a:t>
            </a:r>
            <a:r>
              <a:rPr lang="zh-CN" altLang="en-US" sz="1100">
                <a:solidFill>
                  <a:srgbClr val="333333"/>
                </a:solidFill>
              </a:rPr>
              <a:t>维
  远超自动筛选 </a:t>
            </a:r>
            <a:r>
              <a:rPr lang="en-US" altLang="zh-CN" sz="1100">
                <a:solidFill>
                  <a:srgbClr val="333333"/>
                </a:solidFill>
              </a:rPr>
              <a:t>36-54</a:t>
            </a:r>
            <a:r>
              <a:rPr lang="zh-CN" altLang="en-US" sz="1100">
                <a:solidFill>
                  <a:srgbClr val="333333"/>
                </a:solidFill>
              </a:rPr>
              <a:t>维
</a:t>
            </a:r>
            <a:r>
              <a:rPr lang="en-US" altLang="zh-CN" sz="1100">
                <a:solidFill>
                  <a:srgbClr val="333333"/>
                </a:solidFill>
              </a:rPr>
              <a:t>• 92.6% </a:t>
            </a:r>
            <a:r>
              <a:rPr lang="zh-CN" altLang="en-US" sz="1100">
                <a:solidFill>
                  <a:srgbClr val="333333"/>
                </a:solidFill>
              </a:rPr>
              <a:t>的列零方差
  这些不是特征，是噪声
</a:t>
            </a:r>
            <a:r>
              <a:rPr lang="en-US" altLang="zh-CN" sz="1100">
                <a:solidFill>
                  <a:srgbClr val="333333"/>
                </a:solidFill>
              </a:rPr>
              <a:t>• </a:t>
            </a:r>
            <a:r>
              <a:rPr lang="zh-CN" altLang="en-US" sz="1100">
                <a:solidFill>
                  <a:srgbClr val="333333"/>
                </a:solidFill>
              </a:rPr>
              <a:t>只取 </a:t>
            </a:r>
            <a:r>
              <a:rPr lang="en-US" altLang="zh-CN" sz="1100">
                <a:solidFill>
                  <a:srgbClr val="333333"/>
                </a:solidFill>
              </a:rPr>
              <a:t>boutique </a:t>
            </a:r>
            <a:r>
              <a:rPr lang="zh-CN" altLang="en-US" sz="1100">
                <a:solidFill>
                  <a:srgbClr val="333333"/>
                </a:solidFill>
              </a:rPr>
              <a:t>命名空间
  只取 </a:t>
            </a:r>
            <a:r>
              <a:rPr lang="en-US" altLang="zh-CN" sz="1100">
                <a:solidFill>
                  <a:srgbClr val="333333"/>
                </a:solidFill>
              </a:rPr>
              <a:t>cpu + memory</a:t>
            </a:r>
            <a:endParaRPr lang="zh-CN" altLang="en-US" sz="1100">
              <a:solidFill>
                <a:srgbClr val="333333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358768-E3B4-CBFA-F383-34D7ED62338C}"/>
              </a:ext>
            </a:extLst>
          </p:cNvPr>
          <p:cNvSpPr txBox="1"/>
          <p:nvPr/>
        </p:nvSpPr>
        <p:spPr>
          <a:xfrm>
            <a:off x="508000" y="6096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76481A"/>
                </a:solidFill>
              </a:rPr>
              <a:t>关键启示：花 </a:t>
            </a:r>
            <a:r>
              <a:rPr lang="en-US" altLang="zh-CN" sz="1300" b="1">
                <a:solidFill>
                  <a:srgbClr val="76481A"/>
                </a:solidFill>
              </a:rPr>
              <a:t>80% </a:t>
            </a:r>
            <a:r>
              <a:rPr lang="zh-CN" altLang="en-US" sz="1300" b="1">
                <a:solidFill>
                  <a:srgbClr val="76481A"/>
                </a:solidFill>
              </a:rPr>
              <a:t>的精力在数据上。降维是最廉价的提升手段</a:t>
            </a:r>
            <a:r>
              <a:rPr lang="en-US" altLang="zh-CN" sz="1300" b="1">
                <a:solidFill>
                  <a:srgbClr val="76481A"/>
                </a:solidFill>
              </a:rPr>
              <a:t>——</a:t>
            </a:r>
            <a:r>
              <a:rPr lang="zh-CN" altLang="en-US" sz="1300" b="1">
                <a:solidFill>
                  <a:srgbClr val="76481A"/>
                </a:solidFill>
              </a:rPr>
              <a:t>从 </a:t>
            </a:r>
            <a:r>
              <a:rPr lang="en-US" altLang="zh-CN" sz="1300" b="1">
                <a:solidFill>
                  <a:srgbClr val="76481A"/>
                </a:solidFill>
              </a:rPr>
              <a:t>494 </a:t>
            </a:r>
            <a:r>
              <a:rPr lang="zh-CN" altLang="en-US" sz="1300" b="1">
                <a:solidFill>
                  <a:srgbClr val="76481A"/>
                </a:solidFill>
              </a:rPr>
              <a:t>列删到 </a:t>
            </a:r>
            <a:r>
              <a:rPr lang="en-US" altLang="zh-CN" sz="1300" b="1">
                <a:solidFill>
                  <a:srgbClr val="76481A"/>
                </a:solidFill>
              </a:rPr>
              <a:t>22 </a:t>
            </a:r>
            <a:r>
              <a:rPr lang="zh-CN" altLang="en-US" sz="1300" b="1">
                <a:solidFill>
                  <a:srgbClr val="76481A"/>
                </a:solidFill>
              </a:rPr>
              <a:t>列不需要任何算法改动。</a:t>
            </a:r>
          </a:p>
        </p:txBody>
      </p:sp>
    </p:spTree>
    <p:extLst>
      <p:ext uri="{BB962C8B-B14F-4D97-AF65-F5344CB8AC3E}">
        <p14:creationId xmlns:p14="http://schemas.microsoft.com/office/powerpoint/2010/main" val="275870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FB3D0A-1B82-29B2-8B78-89B0F0BFFDA0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7648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2862AA-A7DE-7A3A-C2FF-E7DDE8019142}"/>
              </a:ext>
            </a:extLst>
          </p:cNvPr>
          <p:cNvSpPr txBox="1"/>
          <p:nvPr/>
        </p:nvSpPr>
        <p:spPr>
          <a:xfrm>
            <a:off x="508000" y="152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FFFF"/>
                </a:solidFill>
              </a:rPr>
              <a:t>实验 </a:t>
            </a:r>
            <a:r>
              <a:rPr lang="en-US" altLang="zh-CN" sz="2800" b="1">
                <a:solidFill>
                  <a:srgbClr val="FFFFFF"/>
                </a:solidFill>
              </a:rPr>
              <a:t>#9 </a:t>
            </a:r>
            <a:r>
              <a:rPr lang="zh-CN" altLang="en-US" sz="2800" b="1">
                <a:solidFill>
                  <a:srgbClr val="FFFFFF"/>
                </a:solidFill>
              </a:rPr>
              <a:t>检测效果可视化 </a:t>
            </a:r>
            <a:r>
              <a:rPr lang="en-US" altLang="zh-CN" sz="2800" b="1">
                <a:solidFill>
                  <a:srgbClr val="FFFFFF"/>
                </a:solidFill>
              </a:rPr>
              <a:t>(F1=0.786)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CCDCF0-FDE9-44D3-1778-4D795BCE33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25500"/>
            <a:ext cx="5842000" cy="2794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DB65C7-CC10-5C67-5CDD-CD7ADC1746A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3746500"/>
            <a:ext cx="11684000" cy="29845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994191C-8649-1C6D-B5FF-A97BBAB9E9E4}"/>
              </a:ext>
            </a:extLst>
          </p:cNvPr>
          <p:cNvSpPr txBox="1"/>
          <p:nvPr/>
        </p:nvSpPr>
        <p:spPr>
          <a:xfrm>
            <a:off x="6350000" y="1016000"/>
            <a:ext cx="558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3333"/>
                </a:solidFill>
              </a:rPr>
              <a:t>分布图：异常窗口（红色）与正常窗口（蓝色）
的异常分数分布</a:t>
            </a:r>
            <a:r>
              <a:rPr lang="en-US" altLang="zh-CN" sz="1000">
                <a:solidFill>
                  <a:srgbClr val="333333"/>
                </a:solidFill>
              </a:rPr>
              <a:t>——</a:t>
            </a:r>
            <a:r>
              <a:rPr lang="zh-CN" altLang="en-US" sz="1000">
                <a:solidFill>
                  <a:srgbClr val="333333"/>
                </a:solidFill>
              </a:rPr>
              <a:t>两组重心明显分离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84FA4E-F8B3-D26A-0DDE-F29ADAEDB471}"/>
              </a:ext>
            </a:extLst>
          </p:cNvPr>
          <p:cNvSpPr txBox="1"/>
          <p:nvPr/>
        </p:nvSpPr>
        <p:spPr>
          <a:xfrm>
            <a:off x="6350000" y="1778000"/>
            <a:ext cx="558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3333"/>
                </a:solidFill>
              </a:rPr>
              <a:t>时序图：红色背景 </a:t>
            </a:r>
            <a:r>
              <a:rPr lang="en-US" altLang="zh-CN" sz="1000">
                <a:solidFill>
                  <a:srgbClr val="333333"/>
                </a:solidFill>
              </a:rPr>
              <a:t>= </a:t>
            </a:r>
            <a:r>
              <a:rPr lang="zh-CN" altLang="en-US" sz="1000">
                <a:solidFill>
                  <a:srgbClr val="333333"/>
                </a:solidFill>
              </a:rPr>
              <a:t>故障注入时段。每次注入后
异常分数立即攀升，清除后回落</a:t>
            </a:r>
          </a:p>
        </p:txBody>
      </p:sp>
    </p:spTree>
    <p:extLst>
      <p:ext uri="{BB962C8B-B14F-4D97-AF65-F5344CB8AC3E}">
        <p14:creationId xmlns:p14="http://schemas.microsoft.com/office/powerpoint/2010/main" val="3132703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91E03F-E45E-B7B3-1CF9-43009B54B7AA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7648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FCE2C1-0B11-7D4E-F949-EB4B4AA4D895}"/>
              </a:ext>
            </a:extLst>
          </p:cNvPr>
          <p:cNvSpPr txBox="1"/>
          <p:nvPr/>
        </p:nvSpPr>
        <p:spPr>
          <a:xfrm>
            <a:off x="508000" y="152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FFFF"/>
                </a:solidFill>
              </a:rPr>
              <a:t>超参数分析：窗口长度 </a:t>
            </a:r>
            <a:r>
              <a:rPr lang="en-US" altLang="zh-CN" sz="2800" b="1">
                <a:solidFill>
                  <a:srgbClr val="FFFFFF"/>
                </a:solidFill>
              </a:rPr>
              <a:t>&amp; POT </a:t>
            </a:r>
            <a:r>
              <a:rPr lang="zh-CN" altLang="en-US" sz="2800" b="1">
                <a:solidFill>
                  <a:srgbClr val="FFFFFF"/>
                </a:solidFill>
              </a:rPr>
              <a:t>失效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53129C-E19C-8160-B1B3-13D9CB9D24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25500"/>
            <a:ext cx="6350000" cy="5080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CEB1543-CA27-77B7-C7C5-3C53BEDC82B6}"/>
              </a:ext>
            </a:extLst>
          </p:cNvPr>
          <p:cNvSpPr txBox="1"/>
          <p:nvPr/>
        </p:nvSpPr>
        <p:spPr>
          <a:xfrm>
            <a:off x="7112000" y="1016000"/>
            <a:ext cx="4699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333333"/>
                </a:solidFill>
              </a:rPr>
              <a:t>论文默认 </a:t>
            </a:r>
            <a:r>
              <a:rPr lang="en-US" altLang="zh-CN" sz="1400" b="1">
                <a:solidFill>
                  <a:srgbClr val="333333"/>
                </a:solidFill>
              </a:rPr>
              <a:t>vs </a:t>
            </a:r>
            <a:r>
              <a:rPr lang="zh-CN" altLang="en-US" sz="1400" b="1">
                <a:solidFill>
                  <a:srgbClr val="333333"/>
                </a:solidFill>
              </a:rPr>
              <a:t>真实最优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17899CD-758A-AE51-8C60-01225C056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549126"/>
              </p:ext>
            </p:extLst>
          </p:nvPr>
        </p:nvGraphicFramePr>
        <p:xfrm>
          <a:off x="7112000" y="1460500"/>
          <a:ext cx="3683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424255802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1715323111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429051401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</a:rPr>
                        <a:t>窗口</a:t>
                      </a:r>
                    </a:p>
                  </a:txBody>
                  <a:tcPr>
                    <a:solidFill>
                      <a:srgbClr val="764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zh-CN" altLang="en-US"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764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7648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71641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altLang="zh-CN" sz="1100"/>
                        <a:t>w5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0.600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论文默认，最差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04018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altLang="zh-CN" sz="1100"/>
                        <a:t>w10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0.616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02303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altLang="zh-CN" sz="1100"/>
                        <a:t>w20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0.643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578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altLang="zh-CN" sz="1100"/>
                        <a:t>w28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0.692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67554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altLang="zh-CN" sz="1100"/>
                        <a:t>w30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0.786 ★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真实数据最优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21129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altLang="zh-CN" sz="1100"/>
                        <a:t>w40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0.762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过大→衰减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697548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88DF96E-246F-977C-E592-38AB203E357E}"/>
              </a:ext>
            </a:extLst>
          </p:cNvPr>
          <p:cNvSpPr txBox="1"/>
          <p:nvPr/>
        </p:nvSpPr>
        <p:spPr>
          <a:xfrm>
            <a:off x="7112000" y="3683000"/>
            <a:ext cx="4699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</a:rPr>
              <a:t>关键发现：
</a:t>
            </a:r>
            <a:r>
              <a:rPr lang="en-US" altLang="zh-CN" sz="1200">
                <a:solidFill>
                  <a:srgbClr val="333333"/>
                </a:solidFill>
              </a:rPr>
              <a:t>• </a:t>
            </a:r>
            <a:r>
              <a:rPr lang="zh-CN" altLang="en-US" sz="1200">
                <a:solidFill>
                  <a:srgbClr val="333333"/>
                </a:solidFill>
              </a:rPr>
              <a:t>论文 </a:t>
            </a:r>
            <a:r>
              <a:rPr lang="en-US" altLang="zh-CN" sz="1200">
                <a:solidFill>
                  <a:srgbClr val="333333"/>
                </a:solidFill>
              </a:rPr>
              <a:t>w5 </a:t>
            </a:r>
            <a:r>
              <a:rPr lang="zh-CN" altLang="en-US" sz="1200">
                <a:solidFill>
                  <a:srgbClr val="333333"/>
                </a:solidFill>
              </a:rPr>
              <a:t>在真实数据上低 </a:t>
            </a:r>
            <a:r>
              <a:rPr lang="en-US" altLang="zh-CN" sz="1200">
                <a:solidFill>
                  <a:srgbClr val="333333"/>
                </a:solidFill>
              </a:rPr>
              <a:t>18.6pp
• </a:t>
            </a:r>
            <a:r>
              <a:rPr lang="zh-CN" altLang="en-US" sz="1200">
                <a:solidFill>
                  <a:srgbClr val="333333"/>
                </a:solidFill>
              </a:rPr>
              <a:t>真实故障是渐进的，需要大窗口捕捉累积偏差
</a:t>
            </a:r>
            <a:r>
              <a:rPr lang="en-US" altLang="zh-CN" sz="1200">
                <a:solidFill>
                  <a:srgbClr val="333333"/>
                </a:solidFill>
              </a:rPr>
              <a:t>• </a:t>
            </a:r>
            <a:r>
              <a:rPr lang="zh-CN" altLang="en-US" sz="1200">
                <a:solidFill>
                  <a:srgbClr val="333333"/>
                </a:solidFill>
              </a:rPr>
              <a:t>窗口过长 </a:t>
            </a:r>
            <a:r>
              <a:rPr lang="en-US" altLang="zh-CN" sz="1200">
                <a:solidFill>
                  <a:srgbClr val="333333"/>
                </a:solidFill>
              </a:rPr>
              <a:t>(w40) </a:t>
            </a:r>
            <a:r>
              <a:rPr lang="zh-CN" altLang="en-US" sz="1200">
                <a:solidFill>
                  <a:srgbClr val="333333"/>
                </a:solidFill>
              </a:rPr>
              <a:t>开始丢失局部信息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D259B3-C671-FE79-2E37-AD998322EA91}"/>
              </a:ext>
            </a:extLst>
          </p:cNvPr>
          <p:cNvSpPr txBox="1"/>
          <p:nvPr/>
        </p:nvSpPr>
        <p:spPr>
          <a:xfrm>
            <a:off x="7112000" y="5334000"/>
            <a:ext cx="46990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0044CC"/>
                </a:solidFill>
              </a:rPr>
              <a:t>POT </a:t>
            </a:r>
            <a:r>
              <a:rPr lang="zh-CN" altLang="en-US" sz="1100">
                <a:solidFill>
                  <a:srgbClr val="0044CC"/>
                </a:solidFill>
              </a:rPr>
              <a:t>失效：
</a:t>
            </a:r>
            <a:r>
              <a:rPr lang="en-US" altLang="zh-CN" sz="1100">
                <a:solidFill>
                  <a:srgbClr val="0044CC"/>
                </a:solidFill>
              </a:rPr>
              <a:t>• level=0.01 → TP=0</a:t>
            </a:r>
            <a:r>
              <a:rPr lang="zh-CN" altLang="en-US" sz="1100">
                <a:solidFill>
                  <a:srgbClr val="0044CC"/>
                </a:solidFill>
              </a:rPr>
              <a:t>（全判正常）
</a:t>
            </a:r>
            <a:r>
              <a:rPr lang="en-US" altLang="zh-CN" sz="1100">
                <a:solidFill>
                  <a:srgbClr val="0044CC"/>
                </a:solidFill>
              </a:rPr>
              <a:t>• level </a:t>
            </a:r>
            <a:r>
              <a:rPr lang="zh-CN" altLang="en-US" sz="1100">
                <a:solidFill>
                  <a:srgbClr val="0044CC"/>
                </a:solidFill>
              </a:rPr>
              <a:t>调大一档 → </a:t>
            </a:r>
            <a:r>
              <a:rPr lang="en-US" altLang="zh-CN" sz="1100">
                <a:solidFill>
                  <a:srgbClr val="0044CC"/>
                </a:solidFill>
              </a:rPr>
              <a:t>FP </a:t>
            </a:r>
            <a:r>
              <a:rPr lang="zh-CN" altLang="en-US" sz="1100">
                <a:solidFill>
                  <a:srgbClr val="0044CC"/>
                </a:solidFill>
              </a:rPr>
              <a:t>爆炸
</a:t>
            </a:r>
            <a:r>
              <a:rPr lang="en-US" altLang="zh-CN" sz="1100">
                <a:solidFill>
                  <a:srgbClr val="0044CC"/>
                </a:solidFill>
              </a:rPr>
              <a:t>• 637 </a:t>
            </a:r>
            <a:r>
              <a:rPr lang="zh-CN" altLang="en-US" sz="1100">
                <a:solidFill>
                  <a:srgbClr val="0044CC"/>
                </a:solidFill>
              </a:rPr>
              <a:t>行训练集太小，极值理论无法拟合
</a:t>
            </a:r>
            <a:r>
              <a:rPr lang="en-US" altLang="zh-CN" sz="1100">
                <a:solidFill>
                  <a:srgbClr val="0044CC"/>
                </a:solidFill>
              </a:rPr>
              <a:t>• </a:t>
            </a:r>
            <a:r>
              <a:rPr lang="zh-CN" altLang="en-US" sz="1100">
                <a:solidFill>
                  <a:srgbClr val="0044CC"/>
                </a:solidFill>
              </a:rPr>
              <a:t>最终 </a:t>
            </a:r>
            <a:r>
              <a:rPr lang="en-US" altLang="zh-CN" sz="1100">
                <a:solidFill>
                  <a:srgbClr val="0044CC"/>
                </a:solidFill>
              </a:rPr>
              <a:t>F1 </a:t>
            </a:r>
            <a:r>
              <a:rPr lang="zh-CN" altLang="en-US" sz="1100">
                <a:solidFill>
                  <a:srgbClr val="0044CC"/>
                </a:solidFill>
              </a:rPr>
              <a:t>依赖 </a:t>
            </a:r>
            <a:r>
              <a:rPr lang="en-US" altLang="zh-CN" sz="1100">
                <a:solidFill>
                  <a:srgbClr val="0044CC"/>
                </a:solidFill>
              </a:rPr>
              <a:t>Best-F1 </a:t>
            </a:r>
            <a:r>
              <a:rPr lang="zh-CN" altLang="en-US" sz="1100">
                <a:solidFill>
                  <a:srgbClr val="0044CC"/>
                </a:solidFill>
              </a:rPr>
              <a:t>搜索（需要真实标签）</a:t>
            </a:r>
          </a:p>
        </p:txBody>
      </p:sp>
    </p:spTree>
    <p:extLst>
      <p:ext uri="{BB962C8B-B14F-4D97-AF65-F5344CB8AC3E}">
        <p14:creationId xmlns:p14="http://schemas.microsoft.com/office/powerpoint/2010/main" val="377716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1772FB-92DE-EF04-126D-EBC237A20E71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7648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06A671-0E10-48D2-1443-20CD70D871EC}"/>
              </a:ext>
            </a:extLst>
          </p:cNvPr>
          <p:cNvSpPr txBox="1"/>
          <p:nvPr/>
        </p:nvSpPr>
        <p:spPr>
          <a:xfrm>
            <a:off x="508000" y="152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FFFF"/>
                </a:solidFill>
              </a:rPr>
              <a:t>核心结论与局限讨论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8571DD-E81C-2D94-B8DE-2D49CD357B37}"/>
              </a:ext>
            </a:extLst>
          </p:cNvPr>
          <p:cNvSpPr txBox="1"/>
          <p:nvPr/>
        </p:nvSpPr>
        <p:spPr>
          <a:xfrm>
            <a:off x="381000" y="1016000"/>
            <a:ext cx="635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76481A"/>
                </a:solidFill>
              </a:rPr>
              <a:t>四个核心发现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B1C65A-B26C-624A-30E7-CD300A777510}"/>
              </a:ext>
            </a:extLst>
          </p:cNvPr>
          <p:cNvSpPr txBox="1"/>
          <p:nvPr/>
        </p:nvSpPr>
        <p:spPr>
          <a:xfrm>
            <a:off x="571500" y="1524000"/>
            <a:ext cx="38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CCFF"/>
                </a:solidFill>
              </a:rPr>
              <a:t>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E48FD9-1CC6-262B-1EFC-00777D685C27}"/>
              </a:ext>
            </a:extLst>
          </p:cNvPr>
          <p:cNvSpPr txBox="1"/>
          <p:nvPr/>
        </p:nvSpPr>
        <p:spPr>
          <a:xfrm>
            <a:off x="952500" y="1524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333333"/>
                </a:solidFill>
              </a:rPr>
              <a:t>数据质量 </a:t>
            </a:r>
            <a:r>
              <a:rPr lang="en-US" altLang="zh-CN" sz="1200" b="1">
                <a:solidFill>
                  <a:srgbClr val="333333"/>
                </a:solidFill>
              </a:rPr>
              <a:t>&gt; </a:t>
            </a:r>
            <a:r>
              <a:rPr lang="zh-CN" altLang="en-US" sz="1200" b="1">
                <a:solidFill>
                  <a:srgbClr val="333333"/>
                </a:solidFill>
              </a:rPr>
              <a:t>模型调参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D4AD68-F518-3C1C-FAB6-D0CB9FD6FB39}"/>
              </a:ext>
            </a:extLst>
          </p:cNvPr>
          <p:cNvSpPr txBox="1"/>
          <p:nvPr/>
        </p:nvSpPr>
        <p:spPr>
          <a:xfrm>
            <a:off x="2921000" y="1524000"/>
            <a:ext cx="342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3333"/>
                </a:solidFill>
              </a:rPr>
              <a:t>最大三次跳升来自增强故障、换数据、重新采集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535E9E-4593-0D73-6DCC-CBBB89C4A9D8}"/>
              </a:ext>
            </a:extLst>
          </p:cNvPr>
          <p:cNvSpPr txBox="1"/>
          <p:nvPr/>
        </p:nvSpPr>
        <p:spPr>
          <a:xfrm>
            <a:off x="571500" y="2057400"/>
            <a:ext cx="38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CCFF"/>
                </a:solidFill>
              </a:rPr>
              <a:t>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A17180-B817-5142-8A19-80726785BC27}"/>
              </a:ext>
            </a:extLst>
          </p:cNvPr>
          <p:cNvSpPr txBox="1"/>
          <p:nvPr/>
        </p:nvSpPr>
        <p:spPr>
          <a:xfrm>
            <a:off x="952500" y="20574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333333"/>
                </a:solidFill>
              </a:rPr>
              <a:t>降维是关键杠杆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08B508-2A6D-2B0E-DB5D-2161B9A79F2A}"/>
              </a:ext>
            </a:extLst>
          </p:cNvPr>
          <p:cNvSpPr txBox="1"/>
          <p:nvPr/>
        </p:nvSpPr>
        <p:spPr>
          <a:xfrm>
            <a:off x="2921000" y="2057400"/>
            <a:ext cx="342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3333"/>
                </a:solidFill>
              </a:rPr>
              <a:t>494</a:t>
            </a:r>
            <a:r>
              <a:rPr lang="zh-CN" altLang="en-US" sz="1000">
                <a:solidFill>
                  <a:srgbClr val="333333"/>
                </a:solidFill>
              </a:rPr>
              <a:t>维→</a:t>
            </a:r>
            <a:r>
              <a:rPr lang="en-US" altLang="zh-CN" sz="1000">
                <a:solidFill>
                  <a:srgbClr val="333333"/>
                </a:solidFill>
              </a:rPr>
              <a:t>22</a:t>
            </a:r>
            <a:r>
              <a:rPr lang="zh-CN" altLang="en-US" sz="1000">
                <a:solidFill>
                  <a:srgbClr val="333333"/>
                </a:solidFill>
              </a:rPr>
              <a:t>维，</a:t>
            </a:r>
            <a:r>
              <a:rPr lang="en-US" altLang="zh-CN" sz="1000">
                <a:solidFill>
                  <a:srgbClr val="333333"/>
                </a:solidFill>
              </a:rPr>
              <a:t>F1×7</a:t>
            </a:r>
            <a:r>
              <a:rPr lang="zh-CN" altLang="en-US" sz="1000">
                <a:solidFill>
                  <a:srgbClr val="333333"/>
                </a:solidFill>
              </a:rPr>
              <a:t>，人工精选</a:t>
            </a:r>
            <a:r>
              <a:rPr lang="en-US" altLang="zh-CN" sz="1000">
                <a:solidFill>
                  <a:srgbClr val="333333"/>
                </a:solidFill>
              </a:rPr>
              <a:t>&gt;</a:t>
            </a:r>
            <a:r>
              <a:rPr lang="zh-CN" altLang="en-US" sz="1000">
                <a:solidFill>
                  <a:srgbClr val="333333"/>
                </a:solidFill>
              </a:rPr>
              <a:t>自动筛选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BD66A1-F5BE-A544-7659-83A3FE8A208B}"/>
              </a:ext>
            </a:extLst>
          </p:cNvPr>
          <p:cNvSpPr txBox="1"/>
          <p:nvPr/>
        </p:nvSpPr>
        <p:spPr>
          <a:xfrm>
            <a:off x="571500" y="2590800"/>
            <a:ext cx="38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CCFF"/>
                </a:solidFill>
              </a:rPr>
              <a:t>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8A9F83-3791-63EC-C4C7-0A6EE2E30075}"/>
              </a:ext>
            </a:extLst>
          </p:cNvPr>
          <p:cNvSpPr txBox="1"/>
          <p:nvPr/>
        </p:nvSpPr>
        <p:spPr>
          <a:xfrm>
            <a:off x="952500" y="25908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333333"/>
                </a:solidFill>
              </a:rPr>
              <a:t>故障强度至关重要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A325F7-97DA-6A02-2439-EB40A636DC4D}"/>
              </a:ext>
            </a:extLst>
          </p:cNvPr>
          <p:cNvSpPr txBox="1"/>
          <p:nvPr/>
        </p:nvSpPr>
        <p:spPr>
          <a:xfrm>
            <a:off x="2921000" y="2590800"/>
            <a:ext cx="342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3333"/>
                </a:solidFill>
              </a:rPr>
              <a:t>1</a:t>
            </a:r>
            <a:r>
              <a:rPr lang="zh-CN" altLang="en-US" sz="1000">
                <a:solidFill>
                  <a:srgbClr val="333333"/>
                </a:solidFill>
              </a:rPr>
              <a:t>核→</a:t>
            </a:r>
            <a:r>
              <a:rPr lang="en-US" altLang="zh-CN" sz="1000">
                <a:solidFill>
                  <a:srgbClr val="333333"/>
                </a:solidFill>
              </a:rPr>
              <a:t>2</a:t>
            </a:r>
            <a:r>
              <a:rPr lang="zh-CN" altLang="en-US" sz="1000">
                <a:solidFill>
                  <a:srgbClr val="333333"/>
                </a:solidFill>
              </a:rPr>
              <a:t>核，</a:t>
            </a:r>
            <a:r>
              <a:rPr lang="en-US" altLang="zh-CN" sz="1000">
                <a:solidFill>
                  <a:srgbClr val="333333"/>
                </a:solidFill>
              </a:rPr>
              <a:t>F1×5</a:t>
            </a:r>
            <a:r>
              <a:rPr lang="zh-CN" altLang="en-US" sz="1000">
                <a:solidFill>
                  <a:srgbClr val="333333"/>
                </a:solidFill>
              </a:rPr>
              <a:t>，弱信号检测仍是难题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FA1B1E-C289-6726-93F7-01CEE2D146FA}"/>
              </a:ext>
            </a:extLst>
          </p:cNvPr>
          <p:cNvSpPr txBox="1"/>
          <p:nvPr/>
        </p:nvSpPr>
        <p:spPr>
          <a:xfrm>
            <a:off x="571500" y="3124200"/>
            <a:ext cx="38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CCFF"/>
                </a:solidFill>
              </a:rPr>
              <a:t>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B3409A-84AA-ED35-A05D-EC4CC374734C}"/>
              </a:ext>
            </a:extLst>
          </p:cNvPr>
          <p:cNvSpPr txBox="1"/>
          <p:nvPr/>
        </p:nvSpPr>
        <p:spPr>
          <a:xfrm>
            <a:off x="952500" y="31242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333333"/>
                </a:solidFill>
              </a:rPr>
              <a:t>POT</a:t>
            </a:r>
            <a:r>
              <a:rPr lang="zh-CN" altLang="en-US" sz="1200" b="1">
                <a:solidFill>
                  <a:srgbClr val="333333"/>
                </a:solidFill>
              </a:rPr>
              <a:t>在小样本不可靠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5716D5-51E9-0E11-5BFE-A3B19445690F}"/>
              </a:ext>
            </a:extLst>
          </p:cNvPr>
          <p:cNvSpPr txBox="1"/>
          <p:nvPr/>
        </p:nvSpPr>
        <p:spPr>
          <a:xfrm>
            <a:off x="2921000" y="3124200"/>
            <a:ext cx="342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3333"/>
                </a:solidFill>
              </a:rPr>
              <a:t>637</a:t>
            </a:r>
            <a:r>
              <a:rPr lang="zh-CN" altLang="en-US" sz="1000">
                <a:solidFill>
                  <a:srgbClr val="333333"/>
                </a:solidFill>
              </a:rPr>
              <a:t>行上完全失效，需更大数据集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705EBC-8F2A-80D0-AC43-F64C4243E78A}"/>
              </a:ext>
            </a:extLst>
          </p:cNvPr>
          <p:cNvSpPr txBox="1"/>
          <p:nvPr/>
        </p:nvSpPr>
        <p:spPr>
          <a:xfrm>
            <a:off x="7112000" y="1016000"/>
            <a:ext cx="4699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044CC"/>
                </a:solidFill>
              </a:rPr>
              <a:t>局限性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CB55B6-D06D-5711-45AB-610575600891}"/>
              </a:ext>
            </a:extLst>
          </p:cNvPr>
          <p:cNvSpPr txBox="1"/>
          <p:nvPr/>
        </p:nvSpPr>
        <p:spPr>
          <a:xfrm>
            <a:off x="7366000" y="14605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3333"/>
                </a:solidFill>
              </a:rPr>
              <a:t>• </a:t>
            </a:r>
            <a:r>
              <a:rPr lang="zh-CN" altLang="en-US" sz="1000">
                <a:solidFill>
                  <a:srgbClr val="333333"/>
                </a:solidFill>
              </a:rPr>
              <a:t>训练集仅 </a:t>
            </a:r>
            <a:r>
              <a:rPr lang="en-US" altLang="zh-CN" sz="1000">
                <a:solidFill>
                  <a:srgbClr val="333333"/>
                </a:solidFill>
              </a:rPr>
              <a:t>637 </a:t>
            </a:r>
            <a:r>
              <a:rPr lang="zh-CN" altLang="en-US" sz="1000">
                <a:solidFill>
                  <a:srgbClr val="333333"/>
                </a:solidFill>
              </a:rPr>
              <a:t>行（</a:t>
            </a:r>
            <a:r>
              <a:rPr lang="en-US" altLang="zh-CN" sz="1000">
                <a:solidFill>
                  <a:srgbClr val="333333"/>
                </a:solidFill>
              </a:rPr>
              <a:t>~6h</a:t>
            </a:r>
            <a:r>
              <a:rPr lang="zh-CN" altLang="en-US" sz="1000">
                <a:solidFill>
                  <a:srgbClr val="333333"/>
                </a:solidFill>
              </a:rPr>
              <a:t>），远少于论文数万条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DF2B439-61E9-C9A0-17FB-35528C882644}"/>
              </a:ext>
            </a:extLst>
          </p:cNvPr>
          <p:cNvSpPr txBox="1"/>
          <p:nvPr/>
        </p:nvSpPr>
        <p:spPr>
          <a:xfrm>
            <a:off x="7366000" y="18415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3333"/>
                </a:solidFill>
              </a:rPr>
              <a:t>• </a:t>
            </a:r>
            <a:r>
              <a:rPr lang="zh-CN" altLang="en-US" sz="1000">
                <a:solidFill>
                  <a:srgbClr val="333333"/>
                </a:solidFill>
              </a:rPr>
              <a:t>仅 </a:t>
            </a:r>
            <a:r>
              <a:rPr lang="en-US" altLang="zh-CN" sz="1000">
                <a:solidFill>
                  <a:srgbClr val="333333"/>
                </a:solidFill>
              </a:rPr>
              <a:t>cpu/mem </a:t>
            </a:r>
            <a:r>
              <a:rPr lang="zh-CN" altLang="en-US" sz="1000">
                <a:solidFill>
                  <a:srgbClr val="333333"/>
                </a:solidFill>
              </a:rPr>
              <a:t>特征，缺少网络</a:t>
            </a:r>
            <a:r>
              <a:rPr lang="en-US" altLang="zh-CN" sz="1000">
                <a:solidFill>
                  <a:srgbClr val="333333"/>
                </a:solidFill>
              </a:rPr>
              <a:t>/</a:t>
            </a:r>
            <a:r>
              <a:rPr lang="zh-CN" altLang="en-US" sz="1000">
                <a:solidFill>
                  <a:srgbClr val="333333"/>
                </a:solidFill>
              </a:rPr>
              <a:t>磁盘</a:t>
            </a:r>
            <a:r>
              <a:rPr lang="en-US" altLang="zh-CN" sz="1000">
                <a:solidFill>
                  <a:srgbClr val="333333"/>
                </a:solidFill>
              </a:rPr>
              <a:t>/</a:t>
            </a:r>
            <a:r>
              <a:rPr lang="zh-CN" altLang="en-US" sz="1000">
                <a:solidFill>
                  <a:srgbClr val="333333"/>
                </a:solidFill>
              </a:rPr>
              <a:t>应用级指标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E77300-7B2D-D122-FA37-666C4FCD5A20}"/>
              </a:ext>
            </a:extLst>
          </p:cNvPr>
          <p:cNvSpPr txBox="1"/>
          <p:nvPr/>
        </p:nvSpPr>
        <p:spPr>
          <a:xfrm>
            <a:off x="7366000" y="22225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3333"/>
                </a:solidFill>
              </a:rPr>
              <a:t>• </a:t>
            </a:r>
            <a:r>
              <a:rPr lang="zh-CN" altLang="en-US" sz="1000">
                <a:solidFill>
                  <a:srgbClr val="333333"/>
                </a:solidFill>
              </a:rPr>
              <a:t>仅 </a:t>
            </a:r>
            <a:r>
              <a:rPr lang="en-US" altLang="zh-CN" sz="1000">
                <a:solidFill>
                  <a:srgbClr val="333333"/>
                </a:solidFill>
              </a:rPr>
              <a:t>3 </a:t>
            </a:r>
            <a:r>
              <a:rPr lang="zh-CN" altLang="en-US" sz="1000">
                <a:solidFill>
                  <a:srgbClr val="333333"/>
                </a:solidFill>
              </a:rPr>
              <a:t>种故障类型，未覆盖内存泄漏、级联故障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918802-4C5B-108D-47BD-8F19F0D448BB}"/>
              </a:ext>
            </a:extLst>
          </p:cNvPr>
          <p:cNvSpPr txBox="1"/>
          <p:nvPr/>
        </p:nvSpPr>
        <p:spPr>
          <a:xfrm>
            <a:off x="7366000" y="26035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3333"/>
                </a:solidFill>
              </a:rPr>
              <a:t>• </a:t>
            </a:r>
            <a:r>
              <a:rPr lang="zh-CN" altLang="en-US" sz="1000">
                <a:solidFill>
                  <a:srgbClr val="333333"/>
                </a:solidFill>
              </a:rPr>
              <a:t>单故障假设，生产环境常为多故障并发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CF6DD9-BECA-82E6-A06F-CA5C86A1F3F8}"/>
              </a:ext>
            </a:extLst>
          </p:cNvPr>
          <p:cNvSpPr txBox="1"/>
          <p:nvPr/>
        </p:nvSpPr>
        <p:spPr>
          <a:xfrm>
            <a:off x="7366000" y="29845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3333"/>
                </a:solidFill>
              </a:rPr>
              <a:t>• POT </a:t>
            </a:r>
            <a:r>
              <a:rPr lang="zh-CN" altLang="en-US" sz="1000">
                <a:solidFill>
                  <a:srgbClr val="333333"/>
                </a:solidFill>
              </a:rPr>
              <a:t>完全失效，依赖 </a:t>
            </a:r>
            <a:r>
              <a:rPr lang="en-US" altLang="zh-CN" sz="1000">
                <a:solidFill>
                  <a:srgbClr val="333333"/>
                </a:solidFill>
              </a:rPr>
              <a:t>Best-F1</a:t>
            </a:r>
            <a:r>
              <a:rPr lang="zh-CN" altLang="en-US" sz="1000">
                <a:solidFill>
                  <a:srgbClr val="333333"/>
                </a:solidFill>
              </a:rPr>
              <a:t>（需真实标签）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24FFB4-8C94-0061-6BF1-792283C713F4}"/>
              </a:ext>
            </a:extLst>
          </p:cNvPr>
          <p:cNvSpPr txBox="1"/>
          <p:nvPr/>
        </p:nvSpPr>
        <p:spPr>
          <a:xfrm>
            <a:off x="7366000" y="33655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3333"/>
                </a:solidFill>
              </a:rPr>
              <a:t>• TensorFlow 1.x (EOL)</a:t>
            </a:r>
            <a:r>
              <a:rPr lang="zh-CN" altLang="en-US" sz="1000">
                <a:solidFill>
                  <a:srgbClr val="333333"/>
                </a:solidFill>
              </a:rPr>
              <a:t>，迁移成本高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B7C7291-EA41-31E3-127E-513EF32DF769}"/>
              </a:ext>
            </a:extLst>
          </p:cNvPr>
          <p:cNvSpPr txBox="1"/>
          <p:nvPr/>
        </p:nvSpPr>
        <p:spPr>
          <a:xfrm>
            <a:off x="508000" y="5461000"/>
            <a:ext cx="1117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888888"/>
                </a:solidFill>
              </a:rPr>
              <a:t>后续：延长训练集</a:t>
            </a:r>
            <a:r>
              <a:rPr lang="en-US" altLang="zh-CN" sz="1000">
                <a:solidFill>
                  <a:srgbClr val="888888"/>
                </a:solidFill>
              </a:rPr>
              <a:t>(12-24h) → </a:t>
            </a:r>
            <a:r>
              <a:rPr lang="zh-CN" altLang="en-US" sz="1000">
                <a:solidFill>
                  <a:srgbClr val="888888"/>
                </a:solidFill>
              </a:rPr>
              <a:t>扩展指标</a:t>
            </a:r>
            <a:r>
              <a:rPr lang="en-US" altLang="zh-CN" sz="1000">
                <a:solidFill>
                  <a:srgbClr val="888888"/>
                </a:solidFill>
              </a:rPr>
              <a:t>(</a:t>
            </a:r>
            <a:r>
              <a:rPr lang="zh-CN" altLang="en-US" sz="1000">
                <a:solidFill>
                  <a:srgbClr val="888888"/>
                </a:solidFill>
              </a:rPr>
              <a:t>网络</a:t>
            </a:r>
            <a:r>
              <a:rPr lang="en-US" altLang="zh-CN" sz="1000">
                <a:solidFill>
                  <a:srgbClr val="888888"/>
                </a:solidFill>
              </a:rPr>
              <a:t>/</a:t>
            </a:r>
            <a:r>
              <a:rPr lang="zh-CN" altLang="en-US" sz="1000">
                <a:solidFill>
                  <a:srgbClr val="888888"/>
                </a:solidFill>
              </a:rPr>
              <a:t>磁盘</a:t>
            </a:r>
            <a:r>
              <a:rPr lang="en-US" altLang="zh-CN" sz="1000">
                <a:solidFill>
                  <a:srgbClr val="888888"/>
                </a:solidFill>
              </a:rPr>
              <a:t>) → </a:t>
            </a:r>
            <a:r>
              <a:rPr lang="zh-CN" altLang="en-US" sz="1000">
                <a:solidFill>
                  <a:srgbClr val="888888"/>
                </a:solidFill>
              </a:rPr>
              <a:t>丰富故障类型 → 模型升级 </a:t>
            </a:r>
            <a:r>
              <a:rPr lang="en-US" altLang="zh-CN" sz="1000">
                <a:solidFill>
                  <a:srgbClr val="888888"/>
                </a:solidFill>
              </a:rPr>
              <a:t>TF2/PyTorch → </a:t>
            </a:r>
            <a:r>
              <a:rPr lang="zh-CN" altLang="en-US" sz="1000">
                <a:solidFill>
                  <a:srgbClr val="888888"/>
                </a:solidFill>
              </a:rPr>
              <a:t>接入 </a:t>
            </a:r>
            <a:r>
              <a:rPr lang="en-US" altLang="zh-CN" sz="1000">
                <a:solidFill>
                  <a:srgbClr val="888888"/>
                </a:solidFill>
              </a:rPr>
              <a:t>aiopsagent LangGraph </a:t>
            </a:r>
            <a:r>
              <a:rPr lang="zh-CN" altLang="en-US" sz="1000">
                <a:solidFill>
                  <a:srgbClr val="888888"/>
                </a:solidFill>
              </a:rPr>
              <a:t>管道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A1B9E40-8810-EDC0-A663-305B27EA0001}"/>
              </a:ext>
            </a:extLst>
          </p:cNvPr>
          <p:cNvSpPr txBox="1"/>
          <p:nvPr/>
        </p:nvSpPr>
        <p:spPr>
          <a:xfrm>
            <a:off x="508000" y="60960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76481A"/>
                </a:solidFill>
              </a:rPr>
              <a:t>谢谢！欢迎提问</a:t>
            </a:r>
          </a:p>
        </p:txBody>
      </p:sp>
    </p:spTree>
    <p:extLst>
      <p:ext uri="{BB962C8B-B14F-4D97-AF65-F5344CB8AC3E}">
        <p14:creationId xmlns:p14="http://schemas.microsoft.com/office/powerpoint/2010/main" val="1388335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1147</Words>
  <Application>Microsoft Office PowerPoint</Application>
  <PresentationFormat>自定义</PresentationFormat>
  <Paragraphs>108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 宇翔</dc:creator>
  <cp:lastModifiedBy>胡 宇翔</cp:lastModifiedBy>
  <cp:revision>1</cp:revision>
  <dcterms:created xsi:type="dcterms:W3CDTF">2026-06-12T08:48:38Z</dcterms:created>
  <dcterms:modified xsi:type="dcterms:W3CDTF">2026-06-12T08:48:38Z</dcterms:modified>
</cp:coreProperties>
</file>